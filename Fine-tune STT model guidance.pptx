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68" r:id="rId6"/>
    <p:sldId id="271" r:id="rId7"/>
    <p:sldId id="273" r:id="rId8"/>
    <p:sldId id="275" r:id="rId9"/>
    <p:sldId id="267" r:id="rId10"/>
    <p:sldId id="269" r:id="rId11"/>
    <p:sldId id="270" r:id="rId12"/>
    <p:sldId id="276" r:id="rId13"/>
    <p:sldId id="259" r:id="rId14"/>
    <p:sldId id="292" r:id="rId15"/>
    <p:sldId id="277" r:id="rId16"/>
    <p:sldId id="278" r:id="rId17"/>
    <p:sldId id="262" r:id="rId18"/>
    <p:sldId id="260" r:id="rId19"/>
    <p:sldId id="266" r:id="rId20"/>
    <p:sldId id="263" r:id="rId21"/>
    <p:sldId id="279" r:id="rId22"/>
    <p:sldId id="280" r:id="rId23"/>
    <p:sldId id="265" r:id="rId24"/>
    <p:sldId id="264" r:id="rId25"/>
    <p:sldId id="272" r:id="rId26"/>
  </p:sldIdLst>
  <p:sldSz cx="12192000" cy="6858000"/>
  <p:notesSz cx="7103745" cy="1023429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2"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notesViewPr>
    <p:cSldViewPr snapToGrid="0">
      <p:cViewPr varScale="1">
        <p:scale>
          <a:sx n="41" d="100"/>
          <a:sy n="41" d="100"/>
        </p:scale>
        <p:origin x="1794" y="54"/>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FDE934FF-F4E1-47C5-9CA5-30A81DDE2BE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FDE934FF-F4E1-47C5-9CA5-30A81DDE2BE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DE934FF-F4E1-47C5-9CA5-30A81DDE2BE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E934FF-F4E1-47C5-9CA5-30A81DDE2BE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FDE934FF-F4E1-47C5-9CA5-30A81DDE2BE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3" name="Date Placeholder 2"/>
          <p:cNvSpPr>
            <a:spLocks noGrp="1"/>
          </p:cNvSpPr>
          <p:nvPr>
            <p:ph type="dt" sz="half" idx="10"/>
          </p:nvPr>
        </p:nvSpPr>
        <p:spPr/>
        <p:txBody>
          <a:bodyPr/>
          <a:lstStyle/>
          <a:p>
            <a:fld id="{FDE934FF-F4E1-47C5-9CA5-30A81DDE2BE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E934FF-F4E1-47C5-9CA5-30A81DDE2BE4}"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561BA9-CDCF-4958-B8AB-66F3BF063E13}"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jpeg"/><Relationship Id="rId1" Type="http://schemas.openxmlformats.org/officeDocument/2006/relationships/image" Target="../media/image9.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jpeg"/><Relationship Id="rId1" Type="http://schemas.openxmlformats.org/officeDocument/2006/relationships/image" Target="../media/image12.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jpe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jpe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p>
            <a:r>
              <a:rPr lang="en-US"/>
              <a:t>Fine-tune STT model</a:t>
            </a:r>
            <a:endParaRPr lang="en-US"/>
          </a:p>
        </p:txBody>
      </p:sp>
      <p:sp>
        <p:nvSpPr>
          <p:cNvPr id="3" name="Subtitle 2"/>
          <p:cNvSpPr>
            <a:spLocks noGrp="1"/>
          </p:cNvSpPr>
          <p:nvPr>
            <p:ph type="subTitle" idx="1"/>
          </p:nvPr>
        </p:nvSpPr>
        <p:spPr/>
        <p:txBody>
          <a:bodyPr/>
          <a:p>
            <a:r>
              <a:rPr lang="en-US" sz="3200"/>
              <a:t>Guidance</a:t>
            </a:r>
            <a:endParaRPr lang="en-US" sz="3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884555" y="1213485"/>
            <a:ext cx="10423525" cy="4799965"/>
          </a:xfrm>
          <a:prstGeom prst="rect">
            <a:avLst/>
          </a:prstGeom>
          <a:noFill/>
        </p:spPr>
        <p:txBody>
          <a:bodyPr wrap="square" rtlCol="0">
            <a:spAutoFit/>
          </a:bodyPr>
          <a:p>
            <a:pPr indent="0">
              <a:buFont typeface="Arial" panose="020B0604020202090204" pitchFamily="34" charset="0"/>
              <a:buNone/>
            </a:pPr>
            <a:r>
              <a:rPr lang="en-US" sz="2400"/>
              <a:t>Needed codes:</a:t>
            </a:r>
            <a:endParaRPr lang="en-US" sz="2400"/>
          </a:p>
          <a:p>
            <a:pPr indent="0">
              <a:buFont typeface="Arial" panose="020B0604020202090204" pitchFamily="34" charset="0"/>
              <a:buNone/>
            </a:pPr>
            <a:r>
              <a:rPr lang="en-US" sz="2400"/>
              <a:t>1)UOB_fine_tune_dataset_making.ipynb (open with Jupyter)</a:t>
            </a:r>
            <a:endParaRPr lang="en-US" sz="2400"/>
          </a:p>
          <a:p>
            <a:pPr indent="0">
              <a:buFont typeface="Arial" panose="020B0604020202090204" pitchFamily="34" charset="0"/>
              <a:buNone/>
            </a:pPr>
            <a:r>
              <a:rPr lang="en-US" sz="2400"/>
              <a:t>2)uob_dataloading.py</a:t>
            </a:r>
            <a:endParaRPr lang="en-US" sz="2400"/>
          </a:p>
          <a:p>
            <a:pPr indent="0">
              <a:buFont typeface="Arial" panose="020B0604020202090204" pitchFamily="34" charset="0"/>
              <a:buNone/>
            </a:pPr>
            <a:r>
              <a:rPr lang="en-US" sz="2400"/>
              <a:t>3)wer.py</a:t>
            </a:r>
            <a:endParaRPr lang="en-US" sz="2400"/>
          </a:p>
          <a:p>
            <a:pPr indent="0">
              <a:buFont typeface="Arial" panose="020B0604020202090204" pitchFamily="34" charset="0"/>
              <a:buNone/>
            </a:pPr>
            <a:r>
              <a:rPr lang="en-US" sz="2400"/>
              <a:t>4)UOB_Malaya-speech_fine-tune.</a:t>
            </a:r>
            <a:r>
              <a:rPr lang="en-US" sz="2400">
                <a:sym typeface="+mn-ea"/>
              </a:rPr>
              <a:t>ipynb (open with Jupyter)</a:t>
            </a:r>
            <a:endParaRPr lang="en-US" sz="2400"/>
          </a:p>
          <a:p>
            <a:pPr indent="0">
              <a:buFont typeface="Arial" panose="020B0604020202090204" pitchFamily="34" charset="0"/>
              <a:buNone/>
            </a:pPr>
            <a:endParaRPr lang="en-US" sz="2400"/>
          </a:p>
          <a:p>
            <a:pPr indent="0">
              <a:buFont typeface="Arial" panose="020B0604020202090204" pitchFamily="34" charset="0"/>
              <a:buNone/>
            </a:pPr>
            <a:endParaRPr lang="en-US" sz="2400"/>
          </a:p>
          <a:p>
            <a:pPr indent="0">
              <a:buFont typeface="Arial" panose="020B0604020202090204" pitchFamily="34" charset="0"/>
              <a:buNone/>
            </a:pPr>
            <a:endParaRPr lang="en-US" sz="2400"/>
          </a:p>
          <a:p>
            <a:pPr indent="0">
              <a:buFont typeface="Arial" panose="020B0604020202090204" pitchFamily="34" charset="0"/>
              <a:buNone/>
            </a:pPr>
            <a:r>
              <a:rPr lang="en-US" sz="2400"/>
              <a:t>Operating procedures:</a:t>
            </a:r>
            <a:endParaRPr lang="en-US" sz="2400"/>
          </a:p>
          <a:p>
            <a:pPr indent="0">
              <a:buFont typeface="Arial" panose="020B0604020202090204" pitchFamily="34" charset="0"/>
              <a:buNone/>
            </a:pPr>
            <a:r>
              <a:rPr lang="en-US" sz="2400" b="1"/>
              <a:t>Part 1</a:t>
            </a:r>
            <a:r>
              <a:rPr lang="en-US" sz="2400"/>
              <a:t>: prepare fine-tuning dataset</a:t>
            </a:r>
            <a:endParaRPr lang="en-US" sz="2400"/>
          </a:p>
          <a:p>
            <a:pPr indent="0">
              <a:buFont typeface="Arial" panose="020B0604020202090204" pitchFamily="34" charset="0"/>
              <a:buNone/>
            </a:pPr>
            <a:r>
              <a:rPr lang="en-US" sz="2400" b="1"/>
              <a:t>Part 2</a:t>
            </a:r>
            <a:r>
              <a:rPr lang="en-US" sz="2400"/>
              <a:t>: change the path in the 1)fine-tuning code and 2)dataloading script</a:t>
            </a:r>
            <a:endParaRPr lang="en-US" sz="2400"/>
          </a:p>
          <a:p>
            <a:pPr indent="0">
              <a:buFont typeface="Arial" panose="020B0604020202090204" pitchFamily="34" charset="0"/>
              <a:buNone/>
            </a:pPr>
            <a:r>
              <a:rPr lang="en-US" sz="2400" b="1"/>
              <a:t>Part 3</a:t>
            </a:r>
            <a:r>
              <a:rPr lang="en-US" sz="2400"/>
              <a:t>: set the approximate parameters and get a fine-tuned model</a:t>
            </a:r>
            <a:endParaRPr lang="en-US"/>
          </a:p>
          <a:p>
            <a:pPr indent="0">
              <a:buFont typeface="Arial" panose="020B0604020202090204" pitchFamily="34" charset="0"/>
              <a:buNone/>
            </a:pP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a:t>Part 1  </a:t>
            </a:r>
            <a:r>
              <a:rPr lang="en-US">
                <a:sym typeface="+mn-ea"/>
              </a:rPr>
              <a:t>prepare fine-tuning dataset</a:t>
            </a:r>
            <a:endParaRPr lang="en-US"/>
          </a:p>
        </p:txBody>
      </p:sp>
      <p:sp>
        <p:nvSpPr>
          <p:cNvPr id="3" name="Content Placeholder 2"/>
          <p:cNvSpPr>
            <a:spLocks noGrp="1"/>
          </p:cNvSpPr>
          <p:nvPr>
            <p:ph idx="1"/>
          </p:nvPr>
        </p:nvSpPr>
        <p:spPr>
          <a:xfrm>
            <a:off x="838200" y="1825625"/>
            <a:ext cx="10515600" cy="4351338"/>
          </a:xfrm>
        </p:spPr>
        <p:txBody>
          <a:bodyPr>
            <a:normAutofit/>
          </a:bodyPr>
          <a:p>
            <a:r>
              <a:rPr lang="en-US"/>
              <a:t>1) open the “</a:t>
            </a:r>
            <a:r>
              <a:rPr lang="en-US">
                <a:sym typeface="+mn-ea"/>
              </a:rPr>
              <a:t>UOB_fine_tune_dataset_making.ipynb” in Jupyter, use this part of code to play the audio and decide the part that can be used for fine-tuning.</a:t>
            </a:r>
            <a:endParaRPr lang="en-US"/>
          </a:p>
          <a:p>
            <a:endParaRPr lang="en-US"/>
          </a:p>
          <a:p>
            <a:endParaRPr lang="en-US"/>
          </a:p>
          <a:p>
            <a:endParaRPr lang="en-US"/>
          </a:p>
          <a:p>
            <a:endParaRPr lang="en-US"/>
          </a:p>
          <a:p>
            <a:endParaRPr lang="en-US"/>
          </a:p>
        </p:txBody>
      </p:sp>
      <p:pic>
        <p:nvPicPr>
          <p:cNvPr id="4" name="Picture 3"/>
          <p:cNvPicPr>
            <a:picLocks noChangeAspect="1"/>
          </p:cNvPicPr>
          <p:nvPr/>
        </p:nvPicPr>
        <p:blipFill>
          <a:blip r:embed="rId1"/>
          <a:stretch>
            <a:fillRect/>
          </a:stretch>
        </p:blipFill>
        <p:spPr>
          <a:xfrm>
            <a:off x="1166495" y="3361690"/>
            <a:ext cx="9692640" cy="2183765"/>
          </a:xfrm>
          <a:prstGeom prst="rect">
            <a:avLst/>
          </a:prstGeom>
        </p:spPr>
      </p:pic>
      <p:sp>
        <p:nvSpPr>
          <p:cNvPr id="5" name="Rectangle 4"/>
          <p:cNvSpPr/>
          <p:nvPr/>
        </p:nvSpPr>
        <p:spPr>
          <a:xfrm>
            <a:off x="2063750" y="4869180"/>
            <a:ext cx="3639820" cy="322580"/>
          </a:xfrm>
          <a:prstGeom prst="rect">
            <a:avLst/>
          </a:prstGeom>
          <a:noFill/>
          <a:ln w="19050">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6" name="Text Box 5"/>
          <p:cNvSpPr txBox="1"/>
          <p:nvPr/>
        </p:nvSpPr>
        <p:spPr>
          <a:xfrm>
            <a:off x="5865495" y="4707890"/>
            <a:ext cx="4020185" cy="368300"/>
          </a:xfrm>
          <a:prstGeom prst="rect">
            <a:avLst/>
          </a:prstGeom>
          <a:noFill/>
        </p:spPr>
        <p:txBody>
          <a:bodyPr wrap="none" rtlCol="0">
            <a:spAutoFit/>
          </a:bodyPr>
          <a:p>
            <a:r>
              <a:rPr lang="en-US">
                <a:solidFill>
                  <a:srgbClr val="FF0000"/>
                </a:solidFill>
              </a:rPr>
              <a:t>here put the path to the original audio</a:t>
            </a:r>
            <a:endParaRPr lang="en-US">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Part 1  prepare fine-tuning dataset</a:t>
            </a:r>
            <a:endParaRPr lang="en-US"/>
          </a:p>
        </p:txBody>
      </p:sp>
      <p:sp>
        <p:nvSpPr>
          <p:cNvPr id="3" name="Content Placeholder 2"/>
          <p:cNvSpPr>
            <a:spLocks noGrp="1"/>
          </p:cNvSpPr>
          <p:nvPr>
            <p:ph idx="1"/>
          </p:nvPr>
        </p:nvSpPr>
        <p:spPr>
          <a:xfrm>
            <a:off x="391160" y="1477645"/>
            <a:ext cx="11546840" cy="4351655"/>
          </a:xfrm>
        </p:spPr>
        <p:txBody>
          <a:bodyPr/>
          <a:p>
            <a:r>
              <a:rPr lang="en-US">
                <a:sym typeface="+mn-ea"/>
              </a:rPr>
              <a:t>2) use this part of code to intercept audio slices that need to be used as fine-tuning datasets. Store in folder named “fine-tune-dataset”</a:t>
            </a:r>
            <a:endParaRPr lang="en-US"/>
          </a:p>
          <a:p>
            <a:endParaRPr lang="en-US"/>
          </a:p>
          <a:p>
            <a:pPr marL="0" indent="0">
              <a:buNone/>
            </a:pPr>
            <a:endParaRPr lang="en-US"/>
          </a:p>
        </p:txBody>
      </p:sp>
      <p:pic>
        <p:nvPicPr>
          <p:cNvPr id="4" name="Picture 3"/>
          <p:cNvPicPr>
            <a:picLocks noChangeAspect="1"/>
          </p:cNvPicPr>
          <p:nvPr/>
        </p:nvPicPr>
        <p:blipFill>
          <a:blip r:embed="rId1"/>
          <a:stretch>
            <a:fillRect/>
          </a:stretch>
        </p:blipFill>
        <p:spPr>
          <a:xfrm>
            <a:off x="723900" y="2311400"/>
            <a:ext cx="5683250" cy="2804795"/>
          </a:xfrm>
          <a:prstGeom prst="rect">
            <a:avLst/>
          </a:prstGeom>
        </p:spPr>
      </p:pic>
      <p:pic>
        <p:nvPicPr>
          <p:cNvPr id="5" name="Picture 4"/>
          <p:cNvPicPr>
            <a:picLocks noChangeAspect="1"/>
          </p:cNvPicPr>
          <p:nvPr/>
        </p:nvPicPr>
        <p:blipFill>
          <a:blip r:embed="rId2"/>
          <a:stretch>
            <a:fillRect/>
          </a:stretch>
        </p:blipFill>
        <p:spPr>
          <a:xfrm>
            <a:off x="723900" y="5204460"/>
            <a:ext cx="10090785" cy="1050925"/>
          </a:xfrm>
          <a:prstGeom prst="rect">
            <a:avLst/>
          </a:prstGeom>
        </p:spPr>
      </p:pic>
      <p:sp>
        <p:nvSpPr>
          <p:cNvPr id="6" name="Rectangle 5"/>
          <p:cNvSpPr/>
          <p:nvPr/>
        </p:nvSpPr>
        <p:spPr>
          <a:xfrm>
            <a:off x="7816850" y="5829300"/>
            <a:ext cx="1697355" cy="426085"/>
          </a:xfrm>
          <a:prstGeom prst="rect">
            <a:avLst/>
          </a:prstGeom>
          <a:noFill/>
          <a:ln w="19050">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7" name="Rectangle 6"/>
          <p:cNvSpPr/>
          <p:nvPr/>
        </p:nvSpPr>
        <p:spPr>
          <a:xfrm>
            <a:off x="9613900" y="5829300"/>
            <a:ext cx="932180" cy="443865"/>
          </a:xfrm>
          <a:prstGeom prst="rect">
            <a:avLst/>
          </a:prstGeom>
          <a:noFill/>
          <a:ln w="19050">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8" name="Text Box 7"/>
          <p:cNvSpPr txBox="1"/>
          <p:nvPr/>
        </p:nvSpPr>
        <p:spPr>
          <a:xfrm>
            <a:off x="7267575" y="4559300"/>
            <a:ext cx="2795270" cy="645160"/>
          </a:xfrm>
          <a:prstGeom prst="rect">
            <a:avLst/>
          </a:prstGeom>
          <a:noFill/>
        </p:spPr>
        <p:txBody>
          <a:bodyPr wrap="square" rtlCol="0">
            <a:spAutoFit/>
          </a:bodyPr>
          <a:p>
            <a:r>
              <a:rPr lang="en-US">
                <a:solidFill>
                  <a:srgbClr val="FF0000"/>
                </a:solidFill>
              </a:rPr>
              <a:t>folder to store the fine-tuning audio slices</a:t>
            </a:r>
            <a:endParaRPr lang="en-US">
              <a:solidFill>
                <a:srgbClr val="FF0000"/>
              </a:solidFill>
            </a:endParaRPr>
          </a:p>
        </p:txBody>
      </p:sp>
      <p:sp>
        <p:nvSpPr>
          <p:cNvPr id="9" name="Text Box 8"/>
          <p:cNvSpPr txBox="1"/>
          <p:nvPr/>
        </p:nvSpPr>
        <p:spPr>
          <a:xfrm>
            <a:off x="10645775" y="6024880"/>
            <a:ext cx="1307465" cy="645160"/>
          </a:xfrm>
          <a:prstGeom prst="rect">
            <a:avLst/>
          </a:prstGeom>
          <a:noFill/>
        </p:spPr>
        <p:txBody>
          <a:bodyPr wrap="square" rtlCol="0">
            <a:spAutoFit/>
          </a:bodyPr>
          <a:p>
            <a:r>
              <a:rPr lang="en-US">
                <a:solidFill>
                  <a:srgbClr val="FF0000"/>
                </a:solidFill>
              </a:rPr>
              <a:t>name the audio slice</a:t>
            </a:r>
            <a:endParaRPr lang="en-US">
              <a:solidFill>
                <a:srgbClr val="FF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Part 1  prepare fine-tuning dataset</a:t>
            </a:r>
            <a:endParaRPr lang="en-US"/>
          </a:p>
        </p:txBody>
      </p:sp>
      <p:sp>
        <p:nvSpPr>
          <p:cNvPr id="3" name="Content Placeholder 2"/>
          <p:cNvSpPr>
            <a:spLocks noGrp="1"/>
          </p:cNvSpPr>
          <p:nvPr>
            <p:ph idx="1"/>
          </p:nvPr>
        </p:nvSpPr>
        <p:spPr>
          <a:xfrm>
            <a:off x="838200" y="1825625"/>
            <a:ext cx="10515600" cy="4351338"/>
          </a:xfrm>
        </p:spPr>
        <p:txBody>
          <a:bodyPr/>
          <a:p>
            <a:r>
              <a:rPr lang="en-US">
                <a:sym typeface="+mn-ea"/>
              </a:rPr>
              <a:t>3) use this part of code preprocess all of the slices in the folder</a:t>
            </a:r>
            <a:endParaRPr lang="en-US">
              <a:sym typeface="+mn-ea"/>
            </a:endParaRPr>
          </a:p>
          <a:p>
            <a:r>
              <a:rPr lang="en-US"/>
              <a:t>Listen to whether the audio is cut correctly and is clear</a:t>
            </a:r>
            <a:endParaRPr lang="en-US">
              <a:sym typeface="+mn-ea"/>
            </a:endParaRPr>
          </a:p>
          <a:p>
            <a:endParaRPr lang="en-US"/>
          </a:p>
          <a:p>
            <a:endParaRPr lang="en-US"/>
          </a:p>
        </p:txBody>
      </p:sp>
      <p:pic>
        <p:nvPicPr>
          <p:cNvPr id="4" name="Picture 3"/>
          <p:cNvPicPr>
            <a:picLocks noChangeAspect="1"/>
          </p:cNvPicPr>
          <p:nvPr/>
        </p:nvPicPr>
        <p:blipFill>
          <a:blip r:embed="rId1"/>
          <a:stretch>
            <a:fillRect/>
          </a:stretch>
        </p:blipFill>
        <p:spPr>
          <a:xfrm>
            <a:off x="1048385" y="3194050"/>
            <a:ext cx="7237730" cy="161417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a:sym typeface="+mn-ea"/>
              </a:rPr>
              <a:t>Part 1  prepare fine-tuning dataset</a:t>
            </a:r>
            <a:endParaRPr lang="en-US"/>
          </a:p>
        </p:txBody>
      </p:sp>
      <p:sp>
        <p:nvSpPr>
          <p:cNvPr id="3" name="Content Placeholder 2"/>
          <p:cNvSpPr>
            <a:spLocks noGrp="1"/>
          </p:cNvSpPr>
          <p:nvPr>
            <p:ph idx="1"/>
          </p:nvPr>
        </p:nvSpPr>
        <p:spPr/>
        <p:txBody>
          <a:bodyPr/>
          <a:p>
            <a:r>
              <a:rPr lang="en-US">
                <a:sym typeface="+mn-ea"/>
              </a:rPr>
              <a:t>3) use this part of code preprocess all of the slices in the folder</a:t>
            </a:r>
            <a:endParaRPr lang="en-US">
              <a:sym typeface="+mn-ea"/>
            </a:endParaRPr>
          </a:p>
          <a:p>
            <a:r>
              <a:rPr lang="en-US"/>
              <a:t>If the audio is not mono, it needs to be converted to mono</a:t>
            </a:r>
            <a:endParaRPr lang="en-US"/>
          </a:p>
        </p:txBody>
      </p:sp>
      <p:pic>
        <p:nvPicPr>
          <p:cNvPr id="4" name="Picture 3"/>
          <p:cNvPicPr>
            <a:picLocks noChangeAspect="1"/>
          </p:cNvPicPr>
          <p:nvPr/>
        </p:nvPicPr>
        <p:blipFill>
          <a:blip r:embed="rId1"/>
          <a:stretch>
            <a:fillRect/>
          </a:stretch>
        </p:blipFill>
        <p:spPr>
          <a:xfrm>
            <a:off x="1038225" y="2837815"/>
            <a:ext cx="10116185" cy="30956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a:sym typeface="+mn-ea"/>
              </a:rPr>
              <a:t>Part 1  prepare fine-tuning dataset</a:t>
            </a:r>
            <a:endParaRPr lang="en-US"/>
          </a:p>
        </p:txBody>
      </p:sp>
      <p:sp>
        <p:nvSpPr>
          <p:cNvPr id="3" name="Content Placeholder 2"/>
          <p:cNvSpPr>
            <a:spLocks noGrp="1"/>
          </p:cNvSpPr>
          <p:nvPr>
            <p:ph idx="1"/>
          </p:nvPr>
        </p:nvSpPr>
        <p:spPr>
          <a:xfrm>
            <a:off x="838200" y="1825625"/>
            <a:ext cx="10515600" cy="4351338"/>
          </a:xfrm>
        </p:spPr>
        <p:txBody>
          <a:bodyPr/>
          <a:p>
            <a:r>
              <a:rPr lang="en-US">
                <a:sym typeface="+mn-ea"/>
              </a:rPr>
              <a:t>3) use this part of code preprocess all of the slices in the folder</a:t>
            </a:r>
            <a:endParaRPr lang="en-US">
              <a:sym typeface="+mn-ea"/>
            </a:endParaRPr>
          </a:p>
          <a:p>
            <a:r>
              <a:rPr lang="en-US"/>
              <a:t>Noise reduction is required if the audio is noticeably noisy</a:t>
            </a:r>
            <a:endParaRPr lang="en-US"/>
          </a:p>
        </p:txBody>
      </p:sp>
      <p:pic>
        <p:nvPicPr>
          <p:cNvPr id="4" name="Picture 3"/>
          <p:cNvPicPr>
            <a:picLocks noChangeAspect="1"/>
          </p:cNvPicPr>
          <p:nvPr/>
        </p:nvPicPr>
        <p:blipFill>
          <a:blip r:embed="rId1"/>
          <a:stretch>
            <a:fillRect/>
          </a:stretch>
        </p:blipFill>
        <p:spPr>
          <a:xfrm>
            <a:off x="980440" y="3326130"/>
            <a:ext cx="10373360" cy="206819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Part 1  prepare fine-tuning dataset</a:t>
            </a:r>
            <a:endParaRPr lang="en-US"/>
          </a:p>
        </p:txBody>
      </p:sp>
      <p:sp>
        <p:nvSpPr>
          <p:cNvPr id="3" name="Content Placeholder 2"/>
          <p:cNvSpPr>
            <a:spLocks noGrp="1"/>
          </p:cNvSpPr>
          <p:nvPr>
            <p:ph idx="1"/>
          </p:nvPr>
        </p:nvSpPr>
        <p:spPr/>
        <p:txBody>
          <a:bodyPr>
            <a:normAutofit/>
          </a:bodyPr>
          <a:p>
            <a:r>
              <a:rPr lang="en-US">
                <a:sym typeface="+mn-ea"/>
              </a:rPr>
              <a:t>4) record the corresponding text in csv like this:</a:t>
            </a:r>
            <a:endParaRPr lang="en-US">
              <a:sym typeface="+mn-ea"/>
            </a:endParaRPr>
          </a:p>
          <a:p>
            <a:endParaRPr lang="en-US"/>
          </a:p>
          <a:p>
            <a:endParaRPr lang="en-US"/>
          </a:p>
        </p:txBody>
      </p:sp>
      <p:pic>
        <p:nvPicPr>
          <p:cNvPr id="4" name="Picture 3"/>
          <p:cNvPicPr>
            <a:picLocks noChangeAspect="1"/>
          </p:cNvPicPr>
          <p:nvPr/>
        </p:nvPicPr>
        <p:blipFill>
          <a:blip r:embed="rId1"/>
          <a:srcRect t="1072"/>
          <a:stretch>
            <a:fillRect/>
          </a:stretch>
        </p:blipFill>
        <p:spPr>
          <a:xfrm>
            <a:off x="1155065" y="2353310"/>
            <a:ext cx="8343900" cy="3456940"/>
          </a:xfrm>
          <a:prstGeom prst="rect">
            <a:avLst/>
          </a:prstGeom>
        </p:spPr>
      </p:pic>
      <p:sp>
        <p:nvSpPr>
          <p:cNvPr id="5" name="Left Brace 4"/>
          <p:cNvSpPr/>
          <p:nvPr/>
        </p:nvSpPr>
        <p:spPr>
          <a:xfrm rot="16200000">
            <a:off x="2155825" y="5253355"/>
            <a:ext cx="276225" cy="1390650"/>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en-US"/>
          </a:p>
        </p:txBody>
      </p:sp>
      <p:sp>
        <p:nvSpPr>
          <p:cNvPr id="6" name="Left Brace 5"/>
          <p:cNvSpPr/>
          <p:nvPr/>
        </p:nvSpPr>
        <p:spPr>
          <a:xfrm rot="16200000">
            <a:off x="5313680" y="3564255"/>
            <a:ext cx="276860" cy="4769485"/>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en-US"/>
          </a:p>
        </p:txBody>
      </p:sp>
      <p:sp>
        <p:nvSpPr>
          <p:cNvPr id="7" name="Text Box 6"/>
          <p:cNvSpPr txBox="1"/>
          <p:nvPr/>
        </p:nvSpPr>
        <p:spPr>
          <a:xfrm>
            <a:off x="1155065" y="6087110"/>
            <a:ext cx="3051810" cy="645160"/>
          </a:xfrm>
          <a:prstGeom prst="rect">
            <a:avLst/>
          </a:prstGeom>
          <a:noFill/>
        </p:spPr>
        <p:txBody>
          <a:bodyPr wrap="none" rtlCol="0">
            <a:spAutoFit/>
          </a:bodyPr>
          <a:p>
            <a:pPr algn="l"/>
            <a:r>
              <a:rPr lang="en-US">
                <a:solidFill>
                  <a:srgbClr val="FF0000"/>
                </a:solidFill>
              </a:rPr>
              <a:t>first column:</a:t>
            </a:r>
            <a:endParaRPr lang="en-US">
              <a:solidFill>
                <a:srgbClr val="FF0000"/>
              </a:solidFill>
            </a:endParaRPr>
          </a:p>
          <a:p>
            <a:pPr algn="l"/>
            <a:r>
              <a:rPr lang="en-US">
                <a:solidFill>
                  <a:srgbClr val="FF0000"/>
                </a:solidFill>
              </a:rPr>
              <a:t>the name of the audio slices</a:t>
            </a:r>
            <a:endParaRPr lang="en-US">
              <a:solidFill>
                <a:srgbClr val="FF0000"/>
              </a:solidFill>
            </a:endParaRPr>
          </a:p>
        </p:txBody>
      </p:sp>
      <p:sp>
        <p:nvSpPr>
          <p:cNvPr id="8" name="Text Box 7"/>
          <p:cNvSpPr txBox="1"/>
          <p:nvPr/>
        </p:nvSpPr>
        <p:spPr>
          <a:xfrm>
            <a:off x="4503420" y="6088380"/>
            <a:ext cx="4203700" cy="645160"/>
          </a:xfrm>
          <a:prstGeom prst="rect">
            <a:avLst/>
          </a:prstGeom>
          <a:noFill/>
        </p:spPr>
        <p:txBody>
          <a:bodyPr wrap="square" rtlCol="0" anchor="t">
            <a:spAutoFit/>
          </a:bodyPr>
          <a:p>
            <a:r>
              <a:rPr lang="en-US">
                <a:solidFill>
                  <a:srgbClr val="FF0000"/>
                </a:solidFill>
              </a:rPr>
              <a:t>second column:</a:t>
            </a:r>
            <a:endParaRPr lang="en-US">
              <a:solidFill>
                <a:srgbClr val="FF0000"/>
              </a:solidFill>
            </a:endParaRPr>
          </a:p>
          <a:p>
            <a:r>
              <a:rPr lang="en-US">
                <a:solidFill>
                  <a:srgbClr val="FF0000"/>
                </a:solidFill>
              </a:rPr>
              <a:t>correct text for each audio slice</a:t>
            </a:r>
            <a:endParaRPr lang="en-US">
              <a:solidFill>
                <a:srgbClr val="FF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a:sym typeface="+mn-ea"/>
              </a:rPr>
              <a:t>Part 1  prepare fine-tuning dataset</a:t>
            </a:r>
            <a:endParaRPr lang="en-US"/>
          </a:p>
        </p:txBody>
      </p:sp>
      <p:sp>
        <p:nvSpPr>
          <p:cNvPr id="3" name="Content Placeholder 2"/>
          <p:cNvSpPr>
            <a:spLocks noGrp="1"/>
          </p:cNvSpPr>
          <p:nvPr>
            <p:ph idx="1"/>
          </p:nvPr>
        </p:nvSpPr>
        <p:spPr>
          <a:xfrm>
            <a:off x="838200" y="1691005"/>
            <a:ext cx="10515600" cy="4351338"/>
          </a:xfrm>
        </p:spPr>
        <p:txBody>
          <a:bodyPr>
            <a:normAutofit fontScale="90000" lnSpcReduction="20000"/>
          </a:bodyPr>
          <a:p>
            <a:r>
              <a:rPr lang="en-US">
                <a:sym typeface="+mn-ea"/>
              </a:rPr>
              <a:t>5) divide those slices into training set and testing set </a:t>
            </a:r>
            <a:endParaRPr lang="en-US">
              <a:sym typeface="+mn-ea"/>
            </a:endParaRPr>
          </a:p>
          <a:p>
            <a:r>
              <a:rPr lang="en-US">
                <a:sym typeface="+mn-ea"/>
              </a:rPr>
              <a:t>(if the data set is no more than 30 slices, set proportion around training:testing =9:1; If the data set is large, set proportion around training:testing =7:3)</a:t>
            </a:r>
            <a:endParaRPr lang="en-US">
              <a:sym typeface="+mn-ea"/>
            </a:endParaRPr>
          </a:p>
          <a:p>
            <a:endParaRPr lang="en-US">
              <a:sym typeface="+mn-ea"/>
            </a:endParaRPr>
          </a:p>
          <a:p>
            <a:r>
              <a:rPr lang="en-US">
                <a:solidFill>
                  <a:srgbClr val="FF0000"/>
                </a:solidFill>
                <a:sym typeface="+mn-ea"/>
              </a:rPr>
              <a:t>Note</a:t>
            </a:r>
            <a:r>
              <a:rPr lang="en-US">
                <a:sym typeface="+mn-ea"/>
              </a:rPr>
              <a:t>: </a:t>
            </a:r>
            <a:endParaRPr lang="en-US">
              <a:sym typeface="+mn-ea"/>
            </a:endParaRPr>
          </a:p>
          <a:p>
            <a:r>
              <a:rPr lang="en-US">
                <a:sym typeface="+mn-ea"/>
              </a:rPr>
              <a:t>In all the texts corresponding to the audio of the training set, the 26 English letters need to appear at least once, otherwise the fine-tuning model will report an error later (reason: the vocab_list generated based on the text needs to match the vocab_list of the original model)</a:t>
            </a:r>
            <a:endParaRPr lang="en-US">
              <a:sym typeface="+mn-ea"/>
            </a:endParaRPr>
          </a:p>
          <a:p>
            <a:r>
              <a:rPr lang="en-US">
                <a:sym typeface="+mn-ea"/>
              </a:rPr>
              <a:t>The fine-tuning dataset shouldn't be too small, otherwise the generalization ability of the model will be poor </a:t>
            </a:r>
            <a:endParaRPr lang="en-US"/>
          </a:p>
          <a:p>
            <a:endParaRPr lang="en-US">
              <a:sym typeface="+mn-ea"/>
            </a:endParaRPr>
          </a:p>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a:sym typeface="+mn-ea"/>
              </a:rPr>
              <a:t>Part 1  prepare fine-tuning dataset</a:t>
            </a:r>
            <a:endParaRPr lang="en-US"/>
          </a:p>
        </p:txBody>
      </p:sp>
      <p:sp>
        <p:nvSpPr>
          <p:cNvPr id="3" name="Content Placeholder 2"/>
          <p:cNvSpPr>
            <a:spLocks noGrp="1"/>
          </p:cNvSpPr>
          <p:nvPr>
            <p:ph idx="1"/>
          </p:nvPr>
        </p:nvSpPr>
        <p:spPr/>
        <p:txBody>
          <a:bodyPr>
            <a:normAutofit/>
          </a:bodyPr>
          <a:p>
            <a:r>
              <a:rPr lang="en-US">
                <a:sym typeface="+mn-ea"/>
              </a:rPr>
              <a:t>6)prepare a empty folder named “uob_finetune_dataset”, inside the folder put the training slices into folder named “train”, put the testing slices into folder named “test”, divide the transcript csv to train.csv and test.csv as well.</a:t>
            </a:r>
            <a:endParaRPr lang="en-US">
              <a:sym typeface="+mn-ea"/>
            </a:endParaRPr>
          </a:p>
          <a:p>
            <a:endParaRPr lang="en-US">
              <a:sym typeface="+mn-ea"/>
            </a:endParaRPr>
          </a:p>
          <a:p>
            <a:endParaRPr lang="en-US">
              <a:sym typeface="+mn-ea"/>
            </a:endParaRPr>
          </a:p>
          <a:p>
            <a:endParaRPr lang="en-US">
              <a:sym typeface="+mn-ea"/>
            </a:endParaRPr>
          </a:p>
          <a:p>
            <a:endParaRPr lang="en-US">
              <a:sym typeface="+mn-ea"/>
            </a:endParaRPr>
          </a:p>
          <a:p>
            <a:endParaRPr lang="en-US"/>
          </a:p>
        </p:txBody>
      </p:sp>
      <p:pic>
        <p:nvPicPr>
          <p:cNvPr id="4" name="Picture 3"/>
          <p:cNvPicPr>
            <a:picLocks noChangeAspect="1"/>
          </p:cNvPicPr>
          <p:nvPr/>
        </p:nvPicPr>
        <p:blipFill>
          <a:blip r:embed="rId1"/>
          <a:stretch>
            <a:fillRect/>
          </a:stretch>
        </p:blipFill>
        <p:spPr>
          <a:xfrm>
            <a:off x="1240155" y="3489325"/>
            <a:ext cx="5797550" cy="206629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Part 1  prepare fine-tuning dataset</a:t>
            </a:r>
            <a:endParaRPr lang="en-US"/>
          </a:p>
        </p:txBody>
      </p:sp>
      <p:sp>
        <p:nvSpPr>
          <p:cNvPr id="3" name="Content Placeholder 2"/>
          <p:cNvSpPr>
            <a:spLocks noGrp="1"/>
          </p:cNvSpPr>
          <p:nvPr>
            <p:ph idx="1"/>
          </p:nvPr>
        </p:nvSpPr>
        <p:spPr>
          <a:xfrm>
            <a:off x="838200" y="1378585"/>
            <a:ext cx="10515600" cy="5233035"/>
          </a:xfrm>
        </p:spPr>
        <p:txBody>
          <a:bodyPr>
            <a:normAutofit fontScale="90000" lnSpcReduction="10000"/>
          </a:bodyPr>
          <a:p>
            <a:r>
              <a:rPr lang="en-US">
                <a:sym typeface="+mn-ea"/>
              </a:rPr>
              <a:t>inside the train (test) folder</a:t>
            </a:r>
            <a:endParaRPr lang="en-US">
              <a:sym typeface="+mn-ea"/>
            </a:endParaRPr>
          </a:p>
          <a:p>
            <a:endParaRPr lang="en-US">
              <a:sym typeface="+mn-ea"/>
            </a:endParaRPr>
          </a:p>
          <a:p>
            <a:endParaRPr lang="en-US">
              <a:sym typeface="+mn-ea"/>
            </a:endParaRPr>
          </a:p>
          <a:p>
            <a:endParaRPr lang="en-US">
              <a:sym typeface="+mn-ea"/>
            </a:endParaRPr>
          </a:p>
          <a:p>
            <a:endParaRPr lang="en-US">
              <a:sym typeface="+mn-ea"/>
            </a:endParaRPr>
          </a:p>
          <a:p>
            <a:endParaRPr lang="en-US">
              <a:sym typeface="+mn-ea"/>
            </a:endParaRPr>
          </a:p>
          <a:p>
            <a:r>
              <a:rPr lang="en-US">
                <a:sym typeface="+mn-ea"/>
              </a:rPr>
              <a:t>inside the train.csv (test.csv)</a:t>
            </a:r>
            <a:endParaRPr lang="en-US">
              <a:sym typeface="+mn-ea"/>
            </a:endParaRPr>
          </a:p>
          <a:p>
            <a:endParaRPr lang="en-US">
              <a:sym typeface="+mn-ea"/>
            </a:endParaRPr>
          </a:p>
          <a:p>
            <a:endParaRPr lang="en-US">
              <a:sym typeface="+mn-ea"/>
            </a:endParaRPr>
          </a:p>
          <a:p>
            <a:endParaRPr lang="en-US">
              <a:sym typeface="+mn-ea"/>
            </a:endParaRPr>
          </a:p>
          <a:p>
            <a:r>
              <a:rPr lang="en-US">
                <a:sym typeface="+mn-ea"/>
              </a:rPr>
              <a:t>zip the “uob_finetune_dataset” folder</a:t>
            </a:r>
            <a:endParaRPr lang="en-US"/>
          </a:p>
          <a:p>
            <a:r>
              <a:rPr lang="en-US">
                <a:sym typeface="+mn-ea"/>
              </a:rPr>
              <a:t>path to this zip file is “path/to/uob_finetune_dataset.zip”</a:t>
            </a:r>
            <a:endParaRPr lang="en-US"/>
          </a:p>
          <a:p>
            <a:endParaRPr lang="en-US"/>
          </a:p>
        </p:txBody>
      </p:sp>
      <p:pic>
        <p:nvPicPr>
          <p:cNvPr id="4" name="Picture 3"/>
          <p:cNvPicPr>
            <a:picLocks noChangeAspect="1"/>
          </p:cNvPicPr>
          <p:nvPr/>
        </p:nvPicPr>
        <p:blipFill>
          <a:blip r:embed="rId1"/>
          <a:stretch>
            <a:fillRect/>
          </a:stretch>
        </p:blipFill>
        <p:spPr>
          <a:xfrm>
            <a:off x="1048385" y="1742440"/>
            <a:ext cx="6070600" cy="2190115"/>
          </a:xfrm>
          <a:prstGeom prst="rect">
            <a:avLst/>
          </a:prstGeom>
        </p:spPr>
      </p:pic>
      <p:pic>
        <p:nvPicPr>
          <p:cNvPr id="5" name="Picture 4"/>
          <p:cNvPicPr>
            <a:picLocks noChangeAspect="1"/>
          </p:cNvPicPr>
          <p:nvPr/>
        </p:nvPicPr>
        <p:blipFill>
          <a:blip r:embed="rId2"/>
          <a:stretch>
            <a:fillRect/>
          </a:stretch>
        </p:blipFill>
        <p:spPr>
          <a:xfrm>
            <a:off x="1122680" y="4455160"/>
            <a:ext cx="7345680" cy="112712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sym typeface="+mn-ea"/>
              </a:rPr>
              <a:t>Part 2: change the path in the fine-tuning code and dataloading script</a:t>
            </a:r>
            <a:endParaRPr lang="en-US"/>
          </a:p>
        </p:txBody>
      </p:sp>
      <p:sp>
        <p:nvSpPr>
          <p:cNvPr id="3" name="Content Placeholder 2"/>
          <p:cNvSpPr>
            <a:spLocks noGrp="1"/>
          </p:cNvSpPr>
          <p:nvPr>
            <p:ph idx="1"/>
          </p:nvPr>
        </p:nvSpPr>
        <p:spPr>
          <a:xfrm>
            <a:off x="838200" y="1787525"/>
            <a:ext cx="10515600" cy="4351338"/>
          </a:xfrm>
        </p:spPr>
        <p:txBody>
          <a:bodyPr/>
          <a:p>
            <a:r>
              <a:rPr lang="en-US"/>
              <a:t>1) change the path in the fine-tuning code</a:t>
            </a:r>
            <a:endParaRPr lang="en-US"/>
          </a:p>
          <a:p>
            <a:r>
              <a:rPr lang="en-US"/>
              <a:t>open the “</a:t>
            </a:r>
            <a:r>
              <a:rPr lang="en-US">
                <a:sym typeface="+mn-ea"/>
              </a:rPr>
              <a:t>UOB_Malaya-speech_fine-tune.ipynb” in Jupyter</a:t>
            </a:r>
            <a:endParaRPr lang="en-US">
              <a:sym typeface="+mn-ea"/>
            </a:endParaRPr>
          </a:p>
          <a:p>
            <a:endParaRPr lang="en-US"/>
          </a:p>
        </p:txBody>
      </p:sp>
      <p:pic>
        <p:nvPicPr>
          <p:cNvPr id="4" name="Picture 3"/>
          <p:cNvPicPr>
            <a:picLocks noChangeAspect="1"/>
          </p:cNvPicPr>
          <p:nvPr/>
        </p:nvPicPr>
        <p:blipFill>
          <a:blip r:embed="rId1"/>
          <a:srcRect l="25781" t="42341" r="3156" b="42519"/>
          <a:stretch>
            <a:fillRect/>
          </a:stretch>
        </p:blipFill>
        <p:spPr>
          <a:xfrm>
            <a:off x="829945" y="2944495"/>
            <a:ext cx="10532110" cy="1252855"/>
          </a:xfrm>
          <a:prstGeom prst="rect">
            <a:avLst/>
          </a:prstGeom>
        </p:spPr>
      </p:pic>
      <p:sp>
        <p:nvSpPr>
          <p:cNvPr id="6" name="Rectangle 5"/>
          <p:cNvSpPr/>
          <p:nvPr/>
        </p:nvSpPr>
        <p:spPr>
          <a:xfrm>
            <a:off x="3344545" y="3729355"/>
            <a:ext cx="2529840" cy="467995"/>
          </a:xfrm>
          <a:prstGeom prst="rect">
            <a:avLst/>
          </a:prstGeom>
          <a:noFill/>
          <a:ln w="19050">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5" name="Rectangle 4"/>
          <p:cNvSpPr/>
          <p:nvPr/>
        </p:nvSpPr>
        <p:spPr>
          <a:xfrm>
            <a:off x="7956550" y="3729355"/>
            <a:ext cx="2677795" cy="467995"/>
          </a:xfrm>
          <a:prstGeom prst="rect">
            <a:avLst/>
          </a:prstGeom>
          <a:noFill/>
          <a:ln w="19050">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7" name="Text Box 6"/>
          <p:cNvSpPr txBox="1"/>
          <p:nvPr/>
        </p:nvSpPr>
        <p:spPr>
          <a:xfrm>
            <a:off x="2486025" y="4297680"/>
            <a:ext cx="4037965" cy="645160"/>
          </a:xfrm>
          <a:prstGeom prst="rect">
            <a:avLst/>
          </a:prstGeom>
          <a:noFill/>
        </p:spPr>
        <p:txBody>
          <a:bodyPr wrap="square" rtlCol="0">
            <a:spAutoFit/>
          </a:bodyPr>
          <a:p>
            <a:r>
              <a:rPr lang="en-US">
                <a:solidFill>
                  <a:srgbClr val="FF0000"/>
                </a:solidFill>
              </a:rPr>
              <a:t>here put the path to get data loading </a:t>
            </a:r>
            <a:endParaRPr lang="en-US">
              <a:solidFill>
                <a:srgbClr val="FF0000"/>
              </a:solidFill>
            </a:endParaRPr>
          </a:p>
          <a:p>
            <a:r>
              <a:rPr lang="en-US">
                <a:solidFill>
                  <a:srgbClr val="FF0000"/>
                </a:solidFill>
              </a:rPr>
              <a:t>script (the file: uob_loadingdata.py)</a:t>
            </a:r>
            <a:endParaRPr lang="en-US">
              <a:solidFill>
                <a:srgbClr val="FF0000"/>
              </a:solidFill>
            </a:endParaRPr>
          </a:p>
        </p:txBody>
      </p:sp>
      <p:sp>
        <p:nvSpPr>
          <p:cNvPr id="8" name="Text Box 7"/>
          <p:cNvSpPr txBox="1"/>
          <p:nvPr/>
        </p:nvSpPr>
        <p:spPr>
          <a:xfrm>
            <a:off x="7546340" y="4197350"/>
            <a:ext cx="4111625" cy="1476375"/>
          </a:xfrm>
          <a:prstGeom prst="rect">
            <a:avLst/>
          </a:prstGeom>
          <a:noFill/>
        </p:spPr>
        <p:txBody>
          <a:bodyPr wrap="square" rtlCol="0">
            <a:spAutoFit/>
          </a:bodyPr>
          <a:p>
            <a:r>
              <a:rPr lang="en-US">
                <a:solidFill>
                  <a:srgbClr val="FF0000"/>
                </a:solidFill>
              </a:rPr>
              <a:t>here put the path to the folder you want to store the dataset that you get through data loading script</a:t>
            </a:r>
            <a:endParaRPr lang="en-US">
              <a:solidFill>
                <a:srgbClr val="FF0000"/>
              </a:solidFill>
            </a:endParaRPr>
          </a:p>
          <a:p>
            <a:r>
              <a:rPr lang="en-US">
                <a:solidFill>
                  <a:schemeClr val="tx1"/>
                </a:solidFill>
              </a:rPr>
              <a:t>can also just set: </a:t>
            </a:r>
            <a:r>
              <a:rPr lang="en-US">
                <a:solidFill>
                  <a:srgbClr val="FF0000"/>
                </a:solidFill>
              </a:rPr>
              <a:t>cache_dir=r"./" </a:t>
            </a:r>
            <a:r>
              <a:rPr lang="en-US">
                <a:solidFill>
                  <a:schemeClr val="tx1"/>
                </a:solidFill>
              </a:rPr>
              <a:t>to store dataset in the current directory</a:t>
            </a:r>
            <a:endParaRPr lang="en-US">
              <a:solidFill>
                <a:schemeClr val="tx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sym typeface="+mn-ea"/>
              </a:rPr>
              <a:t>Part 2: change the path in the fine-tuning code and dataloading script</a:t>
            </a:r>
            <a:endParaRPr lang="en-US"/>
          </a:p>
        </p:txBody>
      </p:sp>
      <p:sp>
        <p:nvSpPr>
          <p:cNvPr id="3" name="Content Placeholder 2"/>
          <p:cNvSpPr>
            <a:spLocks noGrp="1"/>
          </p:cNvSpPr>
          <p:nvPr>
            <p:ph idx="1"/>
          </p:nvPr>
        </p:nvSpPr>
        <p:spPr/>
        <p:txBody>
          <a:bodyPr/>
          <a:p>
            <a:r>
              <a:rPr lang="en-US">
                <a:sym typeface="+mn-ea"/>
              </a:rPr>
              <a:t>1) change the path in the fine-tuning code</a:t>
            </a:r>
            <a:endParaRPr lang="en-US"/>
          </a:p>
        </p:txBody>
      </p:sp>
      <p:pic>
        <p:nvPicPr>
          <p:cNvPr id="9" name="Picture 8"/>
          <p:cNvPicPr>
            <a:picLocks noChangeAspect="1"/>
          </p:cNvPicPr>
          <p:nvPr/>
        </p:nvPicPr>
        <p:blipFill>
          <a:blip r:embed="rId1"/>
          <a:stretch>
            <a:fillRect/>
          </a:stretch>
        </p:blipFill>
        <p:spPr>
          <a:xfrm>
            <a:off x="1036955" y="2561590"/>
            <a:ext cx="6417310" cy="407670"/>
          </a:xfrm>
          <a:prstGeom prst="rect">
            <a:avLst/>
          </a:prstGeom>
        </p:spPr>
      </p:pic>
      <p:sp>
        <p:nvSpPr>
          <p:cNvPr id="10" name="Rectangle 9"/>
          <p:cNvSpPr/>
          <p:nvPr/>
        </p:nvSpPr>
        <p:spPr>
          <a:xfrm>
            <a:off x="4831080" y="2501265"/>
            <a:ext cx="2529840" cy="467995"/>
          </a:xfrm>
          <a:prstGeom prst="rect">
            <a:avLst/>
          </a:prstGeom>
          <a:noFill/>
          <a:ln w="19050">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1" name="Text Box 10"/>
          <p:cNvSpPr txBox="1"/>
          <p:nvPr/>
        </p:nvSpPr>
        <p:spPr>
          <a:xfrm>
            <a:off x="4311015" y="2969260"/>
            <a:ext cx="7254240" cy="922020"/>
          </a:xfrm>
          <a:prstGeom prst="rect">
            <a:avLst/>
          </a:prstGeom>
          <a:noFill/>
        </p:spPr>
        <p:txBody>
          <a:bodyPr wrap="square" rtlCol="0">
            <a:spAutoFit/>
          </a:bodyPr>
          <a:p>
            <a:r>
              <a:rPr lang="en-US"/>
              <a:t>The folder used to store files related to generating new models</a:t>
            </a:r>
            <a:endParaRPr lang="en-US"/>
          </a:p>
          <a:p>
            <a:r>
              <a:rPr lang="en-US">
                <a:sym typeface="+mn-ea"/>
              </a:rPr>
              <a:t>can also just set: </a:t>
            </a:r>
            <a:r>
              <a:rPr lang="en-US">
                <a:solidFill>
                  <a:srgbClr val="FF0000"/>
                </a:solidFill>
                <a:sym typeface="+mn-ea"/>
              </a:rPr>
              <a:t>save_directory="./new_model_folder" </a:t>
            </a:r>
            <a:r>
              <a:rPr lang="en-US">
                <a:sym typeface="+mn-ea"/>
              </a:rPr>
              <a:t>to generate a folder in the current directory</a:t>
            </a:r>
            <a:endParaRPr lang="en-US"/>
          </a:p>
        </p:txBody>
      </p:sp>
      <p:pic>
        <p:nvPicPr>
          <p:cNvPr id="4" name="Picture 3"/>
          <p:cNvPicPr>
            <a:picLocks noChangeAspect="1"/>
          </p:cNvPicPr>
          <p:nvPr/>
        </p:nvPicPr>
        <p:blipFill>
          <a:blip r:embed="rId2"/>
          <a:stretch>
            <a:fillRect/>
          </a:stretch>
        </p:blipFill>
        <p:spPr>
          <a:xfrm>
            <a:off x="1036955" y="4006215"/>
            <a:ext cx="5537200" cy="725805"/>
          </a:xfrm>
          <a:prstGeom prst="rect">
            <a:avLst/>
          </a:prstGeom>
        </p:spPr>
      </p:pic>
      <p:sp>
        <p:nvSpPr>
          <p:cNvPr id="5" name="Rectangle 4"/>
          <p:cNvSpPr/>
          <p:nvPr/>
        </p:nvSpPr>
        <p:spPr>
          <a:xfrm>
            <a:off x="4545965" y="4302760"/>
            <a:ext cx="2028190" cy="356870"/>
          </a:xfrm>
          <a:prstGeom prst="rect">
            <a:avLst/>
          </a:prstGeom>
          <a:noFill/>
          <a:ln w="19050">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6" name="Text Box 5"/>
          <p:cNvSpPr txBox="1"/>
          <p:nvPr/>
        </p:nvSpPr>
        <p:spPr>
          <a:xfrm>
            <a:off x="4545965" y="4732020"/>
            <a:ext cx="5066030" cy="922020"/>
          </a:xfrm>
          <a:prstGeom prst="rect">
            <a:avLst/>
          </a:prstGeom>
          <a:noFill/>
        </p:spPr>
        <p:txBody>
          <a:bodyPr wrap="square" rtlCol="0">
            <a:spAutoFit/>
          </a:bodyPr>
          <a:p>
            <a:r>
              <a:rPr lang="en-US"/>
              <a:t>Since we can't get the measurement method of wer (word error rate) online, we directly load the wer.py script file here.</a:t>
            </a: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sym typeface="+mn-ea"/>
              </a:rPr>
              <a:t>Part 2: change the path in the fine-tuning code and dataloading script</a:t>
            </a:r>
            <a:endParaRPr lang="en-US"/>
          </a:p>
        </p:txBody>
      </p:sp>
      <p:sp>
        <p:nvSpPr>
          <p:cNvPr id="3" name="Content Placeholder 2"/>
          <p:cNvSpPr>
            <a:spLocks noGrp="1"/>
          </p:cNvSpPr>
          <p:nvPr>
            <p:ph idx="1"/>
          </p:nvPr>
        </p:nvSpPr>
        <p:spPr/>
        <p:txBody>
          <a:bodyPr/>
          <a:p>
            <a:r>
              <a:rPr lang="en-US">
                <a:sym typeface="+mn-ea"/>
              </a:rPr>
              <a:t>1) change the path in the fine-tuning code</a:t>
            </a:r>
            <a:endParaRPr lang="en-US"/>
          </a:p>
        </p:txBody>
      </p:sp>
      <p:pic>
        <p:nvPicPr>
          <p:cNvPr id="4" name="Picture 3"/>
          <p:cNvPicPr>
            <a:picLocks noChangeAspect="1"/>
          </p:cNvPicPr>
          <p:nvPr/>
        </p:nvPicPr>
        <p:blipFill>
          <a:blip r:embed="rId1"/>
          <a:stretch>
            <a:fillRect/>
          </a:stretch>
        </p:blipFill>
        <p:spPr>
          <a:xfrm>
            <a:off x="1120140" y="2414905"/>
            <a:ext cx="7843520" cy="2823210"/>
          </a:xfrm>
          <a:prstGeom prst="rect">
            <a:avLst/>
          </a:prstGeom>
        </p:spPr>
      </p:pic>
      <p:sp>
        <p:nvSpPr>
          <p:cNvPr id="6" name="Rectangle 5"/>
          <p:cNvSpPr/>
          <p:nvPr/>
        </p:nvSpPr>
        <p:spPr>
          <a:xfrm>
            <a:off x="1518920" y="3021330"/>
            <a:ext cx="2529840" cy="368935"/>
          </a:xfrm>
          <a:prstGeom prst="rect">
            <a:avLst/>
          </a:prstGeom>
          <a:noFill/>
          <a:ln w="19050">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5" name="Text Box 4"/>
          <p:cNvSpPr txBox="1"/>
          <p:nvPr/>
        </p:nvSpPr>
        <p:spPr>
          <a:xfrm>
            <a:off x="1120140" y="5238115"/>
            <a:ext cx="8319135" cy="1476375"/>
          </a:xfrm>
          <a:prstGeom prst="rect">
            <a:avLst/>
          </a:prstGeom>
          <a:noFill/>
        </p:spPr>
        <p:txBody>
          <a:bodyPr wrap="square" rtlCol="0">
            <a:spAutoFit/>
          </a:bodyPr>
          <a:p>
            <a:pPr algn="l"/>
            <a:r>
              <a:rPr lang="en-US">
                <a:solidFill>
                  <a:srgbClr val="FF0000"/>
                </a:solidFill>
              </a:rPr>
              <a:t>here put the path to get the pre-trained model (the model we want to do fine-tuning on)</a:t>
            </a:r>
            <a:endParaRPr lang="en-US"/>
          </a:p>
          <a:p>
            <a:pPr algn="l"/>
            <a:r>
              <a:rPr lang="en-US"/>
              <a:t>It should be a folder, inside the folder have </a:t>
            </a:r>
            <a:r>
              <a:rPr lang="en-US" b="1"/>
              <a:t>six files</a:t>
            </a:r>
            <a:r>
              <a:rPr lang="en-US"/>
              <a:t>: (1)</a:t>
            </a:r>
            <a:r>
              <a:rPr lang="en-US">
                <a:sym typeface="+mn-ea"/>
              </a:rPr>
              <a:t>pytorch_model.bin, (2)config.json, (3)preprocessor_config.json, (4)special_tokens_map.json, (5)vocab.json, (6)tokenizer_config.json</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sym typeface="+mn-ea"/>
              </a:rPr>
              <a:t>Part 2: change the path in the fine-tuning code and dataloading script</a:t>
            </a:r>
            <a:endParaRPr lang="en-US"/>
          </a:p>
        </p:txBody>
      </p:sp>
      <p:sp>
        <p:nvSpPr>
          <p:cNvPr id="3" name="Content Placeholder 2"/>
          <p:cNvSpPr>
            <a:spLocks noGrp="1"/>
          </p:cNvSpPr>
          <p:nvPr>
            <p:ph idx="1"/>
          </p:nvPr>
        </p:nvSpPr>
        <p:spPr/>
        <p:txBody>
          <a:bodyPr/>
          <a:p>
            <a:r>
              <a:rPr lang="en-US">
                <a:sym typeface="+mn-ea"/>
              </a:rPr>
              <a:t>1) change the path in the fine-tuning code</a:t>
            </a:r>
            <a:endParaRPr lang="en-US"/>
          </a:p>
        </p:txBody>
      </p:sp>
      <p:pic>
        <p:nvPicPr>
          <p:cNvPr id="4" name="Picture 3"/>
          <p:cNvPicPr>
            <a:picLocks noChangeAspect="1"/>
          </p:cNvPicPr>
          <p:nvPr/>
        </p:nvPicPr>
        <p:blipFill>
          <a:blip r:embed="rId1"/>
          <a:stretch>
            <a:fillRect/>
          </a:stretch>
        </p:blipFill>
        <p:spPr>
          <a:xfrm>
            <a:off x="1216660" y="2381885"/>
            <a:ext cx="7155180" cy="3956050"/>
          </a:xfrm>
          <a:prstGeom prst="rect">
            <a:avLst/>
          </a:prstGeom>
        </p:spPr>
      </p:pic>
      <p:sp>
        <p:nvSpPr>
          <p:cNvPr id="6" name="Rectangle 5"/>
          <p:cNvSpPr/>
          <p:nvPr/>
        </p:nvSpPr>
        <p:spPr>
          <a:xfrm>
            <a:off x="2438400" y="3008630"/>
            <a:ext cx="2529840" cy="368935"/>
          </a:xfrm>
          <a:prstGeom prst="rect">
            <a:avLst/>
          </a:prstGeom>
          <a:noFill/>
          <a:ln w="19050">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5" name="Text Box 4"/>
          <p:cNvSpPr txBox="1"/>
          <p:nvPr/>
        </p:nvSpPr>
        <p:spPr>
          <a:xfrm>
            <a:off x="4887595" y="3621405"/>
            <a:ext cx="6092825" cy="1476375"/>
          </a:xfrm>
          <a:prstGeom prst="rect">
            <a:avLst/>
          </a:prstGeom>
          <a:noFill/>
        </p:spPr>
        <p:txBody>
          <a:bodyPr wrap="square" rtlCol="0" anchor="t">
            <a:spAutoFit/>
          </a:bodyPr>
          <a:p>
            <a:r>
              <a:rPr lang="en-US">
                <a:solidFill>
                  <a:srgbClr val="FF0000"/>
                </a:solidFill>
                <a:sym typeface="+mn-ea"/>
              </a:rPr>
              <a:t>here put the path to the folder you want to store the model after fine-tuning</a:t>
            </a:r>
            <a:endParaRPr lang="en-US">
              <a:solidFill>
                <a:srgbClr val="FF0000"/>
              </a:solidFill>
              <a:sym typeface="+mn-ea"/>
            </a:endParaRPr>
          </a:p>
          <a:p>
            <a:endParaRPr lang="en-US">
              <a:solidFill>
                <a:srgbClr val="FF0000"/>
              </a:solidFill>
              <a:sym typeface="+mn-ea"/>
            </a:endParaRPr>
          </a:p>
          <a:p>
            <a:r>
              <a:rPr lang="en-US">
                <a:sym typeface="+mn-ea"/>
              </a:rPr>
              <a:t>can also just set: </a:t>
            </a:r>
            <a:r>
              <a:rPr lang="en-US">
                <a:solidFill>
                  <a:srgbClr val="FF0000"/>
                </a:solidFill>
                <a:sym typeface="+mn-ea"/>
              </a:rPr>
              <a:t>output_dir="./finetuned_model_name" </a:t>
            </a:r>
            <a:r>
              <a:rPr lang="en-US">
                <a:sym typeface="+mn-ea"/>
              </a:rPr>
              <a:t>to store the fine-tuned model in the current directory</a:t>
            </a:r>
            <a:r>
              <a:rPr lang="en-US">
                <a:solidFill>
                  <a:srgbClr val="FF0000"/>
                </a:solidFill>
                <a:sym typeface="+mn-ea"/>
              </a:rPr>
              <a:t> </a:t>
            </a:r>
            <a:endParaRPr lang="en-US">
              <a:solidFill>
                <a:srgbClr val="FF0000"/>
              </a:solidFill>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sym typeface="+mn-ea"/>
              </a:rPr>
              <a:t>Part 2: change the path in the fine-tuning code and dataloading script</a:t>
            </a:r>
            <a:endParaRPr lang="en-US"/>
          </a:p>
        </p:txBody>
      </p:sp>
      <p:sp>
        <p:nvSpPr>
          <p:cNvPr id="3" name="Content Placeholder 2"/>
          <p:cNvSpPr>
            <a:spLocks noGrp="1"/>
          </p:cNvSpPr>
          <p:nvPr>
            <p:ph idx="1"/>
          </p:nvPr>
        </p:nvSpPr>
        <p:spPr>
          <a:xfrm>
            <a:off x="838200" y="1691005"/>
            <a:ext cx="10515600" cy="4351338"/>
          </a:xfrm>
        </p:spPr>
        <p:txBody>
          <a:bodyPr/>
          <a:p>
            <a:r>
              <a:rPr lang="en-US"/>
              <a:t>2)change the path in the dataloading script</a:t>
            </a:r>
            <a:endParaRPr lang="en-US"/>
          </a:p>
          <a:p>
            <a:r>
              <a:rPr lang="en-US">
                <a:sym typeface="+mn-ea"/>
              </a:rPr>
              <a:t>open the “uob_dataloading.py”</a:t>
            </a:r>
            <a:endParaRPr lang="en-US"/>
          </a:p>
        </p:txBody>
      </p:sp>
      <p:grpSp>
        <p:nvGrpSpPr>
          <p:cNvPr id="9" name="Group 8"/>
          <p:cNvGrpSpPr/>
          <p:nvPr/>
        </p:nvGrpSpPr>
        <p:grpSpPr>
          <a:xfrm>
            <a:off x="838200" y="2743200"/>
            <a:ext cx="11102340" cy="2683510"/>
            <a:chOff x="1715" y="3676"/>
            <a:chExt cx="17484" cy="4226"/>
          </a:xfrm>
        </p:grpSpPr>
        <p:pic>
          <p:nvPicPr>
            <p:cNvPr id="4" name="Picture 3"/>
            <p:cNvPicPr>
              <a:picLocks noChangeAspect="1"/>
            </p:cNvPicPr>
            <p:nvPr/>
          </p:nvPicPr>
          <p:blipFill>
            <a:blip r:embed="rId1"/>
            <a:stretch>
              <a:fillRect/>
            </a:stretch>
          </p:blipFill>
          <p:spPr>
            <a:xfrm>
              <a:off x="1715" y="4496"/>
              <a:ext cx="13207" cy="3407"/>
            </a:xfrm>
            <a:prstGeom prst="rect">
              <a:avLst/>
            </a:prstGeom>
          </p:spPr>
        </p:pic>
        <p:sp>
          <p:nvSpPr>
            <p:cNvPr id="6" name="Rectangle 5"/>
            <p:cNvSpPr/>
            <p:nvPr/>
          </p:nvSpPr>
          <p:spPr>
            <a:xfrm>
              <a:off x="8380" y="4855"/>
              <a:ext cx="6292" cy="563"/>
            </a:xfrm>
            <a:prstGeom prst="rect">
              <a:avLst/>
            </a:prstGeom>
            <a:noFill/>
            <a:ln w="19050">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5" name="Text Box 4"/>
            <p:cNvSpPr txBox="1"/>
            <p:nvPr/>
          </p:nvSpPr>
          <p:spPr>
            <a:xfrm>
              <a:off x="9569" y="3676"/>
              <a:ext cx="9631" cy="1016"/>
            </a:xfrm>
            <a:prstGeom prst="rect">
              <a:avLst/>
            </a:prstGeom>
            <a:noFill/>
          </p:spPr>
          <p:txBody>
            <a:bodyPr wrap="square" rtlCol="0">
              <a:spAutoFit/>
            </a:bodyPr>
            <a:p>
              <a:r>
                <a:rPr lang="en-US">
                  <a:solidFill>
                    <a:srgbClr val="FF0000"/>
                  </a:solidFill>
                </a:rPr>
                <a:t>here put the path to get the fine-tune data zip file (named: fine-tune-dataset.zip) we have prepared in Part 1</a:t>
              </a:r>
              <a:endParaRPr lang="en-US">
                <a:solidFill>
                  <a:srgbClr val="FF0000"/>
                </a:solidFill>
              </a:endParaRPr>
            </a:p>
          </p:txBody>
        </p:sp>
        <p:sp>
          <p:nvSpPr>
            <p:cNvPr id="7" name="Rectangle 6"/>
            <p:cNvSpPr/>
            <p:nvPr/>
          </p:nvSpPr>
          <p:spPr>
            <a:xfrm>
              <a:off x="9245" y="5705"/>
              <a:ext cx="3826" cy="506"/>
            </a:xfrm>
            <a:prstGeom prst="rect">
              <a:avLst/>
            </a:prstGeom>
            <a:noFill/>
            <a:ln w="19050">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8" name="Text Box 7"/>
            <p:cNvSpPr txBox="1"/>
            <p:nvPr/>
          </p:nvSpPr>
          <p:spPr>
            <a:xfrm>
              <a:off x="13405" y="5946"/>
              <a:ext cx="5517" cy="1452"/>
            </a:xfrm>
            <a:prstGeom prst="rect">
              <a:avLst/>
            </a:prstGeom>
            <a:noFill/>
          </p:spPr>
          <p:txBody>
            <a:bodyPr wrap="square" rtlCol="0">
              <a:spAutoFit/>
            </a:bodyPr>
            <a:p>
              <a:r>
                <a:rPr lang="en-US">
                  <a:solidFill>
                    <a:srgbClr val="FF0000"/>
                  </a:solidFill>
                </a:rPr>
                <a:t>folder name after the zip file is unzipped, should be same with zip file name</a:t>
              </a:r>
              <a:endParaRPr lang="en-US">
                <a:solidFill>
                  <a:srgbClr val="FF0000"/>
                </a:solidFil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sym typeface="+mn-ea"/>
              </a:rPr>
              <a:t>Part 3: set the approximate parameters and get a fine-tuned model</a:t>
            </a:r>
            <a:endParaRPr lang="en-US"/>
          </a:p>
        </p:txBody>
      </p:sp>
      <p:sp>
        <p:nvSpPr>
          <p:cNvPr id="3" name="Content Placeholder 2"/>
          <p:cNvSpPr>
            <a:spLocks noGrp="1"/>
          </p:cNvSpPr>
          <p:nvPr>
            <p:ph idx="1"/>
          </p:nvPr>
        </p:nvSpPr>
        <p:spPr/>
        <p:txBody>
          <a:bodyPr>
            <a:normAutofit fontScale="70000"/>
          </a:bodyPr>
          <a:p>
            <a:r>
              <a:rPr lang="en-US">
                <a:sym typeface="+mn-ea"/>
              </a:rPr>
              <a:t>1)Before running the fine-tuning code, install the needed python packages (if you haven't install):</a:t>
            </a:r>
            <a:endParaRPr lang="en-US"/>
          </a:p>
          <a:p>
            <a:pPr marL="0" indent="0">
              <a:buNone/>
            </a:pPr>
            <a:r>
              <a:rPr lang="en-US"/>
              <a:t>(If </a:t>
            </a:r>
            <a:r>
              <a:rPr lang="en-US" b="1"/>
              <a:t>can not use “pip install package-name” to download directly</a:t>
            </a:r>
            <a:r>
              <a:rPr lang="en-US"/>
              <a:t>, here is the relatively time-saving method way to download in </a:t>
            </a:r>
            <a:r>
              <a:rPr lang="en-US" b="1"/>
              <a:t>window</a:t>
            </a:r>
            <a:r>
              <a:rPr lang="en-US"/>
              <a:t>'s system.)</a:t>
            </a:r>
            <a:endParaRPr lang="en-US"/>
          </a:p>
          <a:p>
            <a:pPr marL="0" indent="0">
              <a:buNone/>
            </a:pPr>
            <a:r>
              <a:rPr lang="en-US"/>
              <a:t>Please search these packages on </a:t>
            </a:r>
            <a:r>
              <a:rPr lang="en-US" b="1"/>
              <a:t>PYPI</a:t>
            </a:r>
            <a:r>
              <a:rPr lang="en-US"/>
              <a:t> and use wheel or packages to download it.</a:t>
            </a:r>
            <a:endParaRPr lang="en-US"/>
          </a:p>
          <a:p>
            <a:pPr marL="0" indent="0">
              <a:buNone/>
            </a:pPr>
            <a:r>
              <a:rPr lang="en-US"/>
              <a:t>For </a:t>
            </a:r>
            <a:r>
              <a:rPr lang="en-US" b="1"/>
              <a:t>package.whl</a:t>
            </a:r>
            <a:r>
              <a:rPr lang="en-US"/>
              <a:t> file:</a:t>
            </a:r>
            <a:endParaRPr lang="en-US"/>
          </a:p>
          <a:p>
            <a:pPr marL="0" indent="0">
              <a:buNone/>
            </a:pPr>
            <a:r>
              <a:rPr lang="en-US"/>
              <a:t>Put package.whl file in Anaconda3 -&gt; Script packages and open Anaconda cmd here, run: pip install package.whl</a:t>
            </a:r>
            <a:endParaRPr lang="en-US"/>
          </a:p>
          <a:p>
            <a:pPr marL="0" indent="0">
              <a:buNone/>
            </a:pPr>
            <a:r>
              <a:rPr lang="en-US"/>
              <a:t>For </a:t>
            </a:r>
            <a:r>
              <a:rPr lang="en-US" b="1"/>
              <a:t>packages.zip conclude setup.py inside</a:t>
            </a:r>
            <a:r>
              <a:rPr lang="en-US"/>
              <a:t>:</a:t>
            </a:r>
            <a:endParaRPr lang="en-US"/>
          </a:p>
          <a:p>
            <a:pPr marL="0" indent="0">
              <a:buNone/>
            </a:pPr>
            <a:r>
              <a:rPr lang="en-US"/>
              <a:t>Unzip the packages.zip</a:t>
            </a:r>
            <a:endParaRPr lang="en-US"/>
          </a:p>
          <a:p>
            <a:pPr marL="0" indent="0">
              <a:buNone/>
            </a:pPr>
            <a:r>
              <a:rPr lang="en-US"/>
              <a:t>Put the packages in Anaconda3 -&gt; Lib -&gt; site-packages and open Anaconda cmd in the package, run: python setup.py install</a:t>
            </a:r>
            <a:endParaRPr lang="en-US"/>
          </a:p>
          <a:p>
            <a:pPr marL="0" indent="0">
              <a:buNone/>
            </a:pP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189230" y="274955"/>
            <a:ext cx="5080000" cy="5631180"/>
          </a:xfrm>
          <a:prstGeom prst="rect">
            <a:avLst/>
          </a:prstGeom>
          <a:noFill/>
          <a:ln w="9525">
            <a:noFill/>
          </a:ln>
        </p:spPr>
        <p:txBody>
          <a:bodyPr>
            <a:spAutoFit/>
          </a:bodyPr>
          <a:p>
            <a:pPr marL="0" indent="0"/>
            <a:r>
              <a:rPr b="1">
                <a:latin typeface="Arial Bold" panose="020B0604020202090204" charset="0"/>
                <a:cs typeface="Arial Bold" panose="020B0604020202090204" charset="0"/>
              </a:rPr>
              <a:t>1)dataset == 1.18.3</a:t>
            </a:r>
            <a:r>
              <a:rPr b="0">
                <a:latin typeface="Arial" panose="020B0604020202090204" pitchFamily="34" charset="0"/>
                <a:cs typeface="Arial" panose="020B0604020202090204" pitchFamily="34" charset="0"/>
              </a:rPr>
              <a:t>Steps of installing datasets ==1.18.3:install pyarrow!=4.0.0,&gt;=3.0.0install dillinstall multiprocessinstall xxhashinstall tqdminstall dataset</a:t>
            </a:r>
            <a:endParaRPr sz="1200" b="0">
              <a:latin typeface="Arial" panose="020B0604020202090204" pitchFamily="34" charset="0"/>
              <a:cs typeface="Arial" panose="020B0604020202090204" pitchFamily="34" charset="0"/>
            </a:endParaRPr>
          </a:p>
          <a:p>
            <a:pPr marL="0" indent="0"/>
            <a:endParaRPr lang="en-US"/>
          </a:p>
          <a:p>
            <a:pPr marL="0" indent="0"/>
            <a:r>
              <a:rPr lang="en-US" b="1"/>
              <a:t>2)transformers==4.11.3</a:t>
            </a:r>
            <a:endParaRPr lang="en-US"/>
          </a:p>
          <a:p>
            <a:pPr marL="0" indent="0"/>
            <a:r>
              <a:rPr lang="en-US"/>
              <a:t>Steps of installing transformers==4.11.3:</a:t>
            </a:r>
            <a:endParaRPr lang="en-US"/>
          </a:p>
          <a:p>
            <a:pPr marL="0" indent="0"/>
            <a:r>
              <a:rPr lang="en-US"/>
              <a:t>Before installing transformers, these packages are needed to installed fisrt:</a:t>
            </a:r>
            <a:endParaRPr lang="en-US"/>
          </a:p>
          <a:p>
            <a:pPr marL="0" indent="0"/>
            <a:r>
              <a:rPr lang="en-US"/>
              <a:t>filelock, huggingface-hub, numpy, packaging, pyyaml, regex, requests, tokenizers, tqdm</a:t>
            </a:r>
            <a:endParaRPr lang="en-US"/>
          </a:p>
          <a:p>
            <a:pPr marL="0" indent="0"/>
            <a:endParaRPr lang="en-US"/>
          </a:p>
          <a:p>
            <a:pPr marL="0" indent="0"/>
            <a:r>
              <a:rPr lang="en-US" b="1"/>
              <a:t>3)torchaudio==0.10.0</a:t>
            </a:r>
            <a:endParaRPr lang="en-US"/>
          </a:p>
          <a:p>
            <a:pPr marL="0" indent="0"/>
            <a:r>
              <a:rPr lang="en-US"/>
              <a:t>Steps of installing torchaudio==0.10.0:</a:t>
            </a:r>
            <a:endParaRPr lang="en-US"/>
          </a:p>
          <a:p>
            <a:pPr marL="0" indent="0"/>
            <a:r>
              <a:rPr lang="en-US"/>
              <a:t>install torch == 0.10.0</a:t>
            </a:r>
            <a:endParaRPr lang="en-US"/>
          </a:p>
          <a:p>
            <a:pPr marL="0" indent="0"/>
            <a:r>
              <a:rPr lang="en-US"/>
              <a:t>install torchaudio</a:t>
            </a:r>
            <a:endParaRPr lang="en-US"/>
          </a:p>
        </p:txBody>
      </p:sp>
      <p:sp>
        <p:nvSpPr>
          <p:cNvPr id="5" name="Text Box 4"/>
          <p:cNvSpPr txBox="1"/>
          <p:nvPr/>
        </p:nvSpPr>
        <p:spPr>
          <a:xfrm>
            <a:off x="5944235" y="274955"/>
            <a:ext cx="5080000" cy="2306955"/>
          </a:xfrm>
          <a:prstGeom prst="rect">
            <a:avLst/>
          </a:prstGeom>
          <a:noFill/>
          <a:ln w="9525">
            <a:noFill/>
          </a:ln>
        </p:spPr>
        <p:txBody>
          <a:bodyPr>
            <a:spAutoFit/>
          </a:bodyPr>
          <a:p>
            <a:pPr marL="0" indent="0"/>
            <a:r>
              <a:rPr b="1"/>
              <a:t>4)jiwer</a:t>
            </a:r>
            <a:endParaRPr b="1"/>
          </a:p>
          <a:p>
            <a:pPr marL="0" indent="0"/>
            <a:r>
              <a:t>Steps of installing jiwer:</a:t>
            </a:r>
          </a:p>
          <a:p>
            <a:pPr marL="0" indent="0"/>
            <a:r>
              <a:rPr lang="en-US"/>
              <a:t>install </a:t>
            </a:r>
            <a:r>
              <a:rPr>
                <a:sym typeface="+mn-ea"/>
              </a:rPr>
              <a:t>python-Levenshtein</a:t>
            </a:r>
            <a:endParaRPr>
              <a:sym typeface="+mn-ea"/>
            </a:endParaRPr>
          </a:p>
          <a:p>
            <a:pPr marL="0" indent="0"/>
            <a:r>
              <a:t>install jiwer </a:t>
            </a:r>
          </a:p>
          <a:p>
            <a:pPr marL="0" indent="0"/>
          </a:p>
          <a:p>
            <a:pPr marL="0" indent="0"/>
            <a:r>
              <a:rPr b="1"/>
              <a:t>5)pandas</a:t>
            </a:r>
            <a:endParaRPr b="1"/>
          </a:p>
          <a:p>
            <a:pPr marL="0" indent="0"/>
          </a:p>
          <a:p>
            <a:pPr marL="0" indent="0"/>
            <a:r>
              <a:rPr b="1"/>
              <a:t>6)numpy</a:t>
            </a:r>
            <a:endParaRPr b="1"/>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sym typeface="+mn-ea"/>
              </a:rPr>
              <a:t>Part 3: set the approximate parameters and get a fine-tuned model</a:t>
            </a:r>
            <a:endParaRPr lang="en-US"/>
          </a:p>
        </p:txBody>
      </p:sp>
      <p:sp>
        <p:nvSpPr>
          <p:cNvPr id="3" name="Content Placeholder 2"/>
          <p:cNvSpPr>
            <a:spLocks noGrp="1"/>
          </p:cNvSpPr>
          <p:nvPr>
            <p:ph idx="1"/>
          </p:nvPr>
        </p:nvSpPr>
        <p:spPr>
          <a:xfrm>
            <a:off x="838200" y="1552575"/>
            <a:ext cx="10515600" cy="4351338"/>
          </a:xfrm>
        </p:spPr>
        <p:txBody>
          <a:bodyPr/>
          <a:p>
            <a:r>
              <a:rPr lang="en-US"/>
              <a:t>2) required parameters recommendation</a:t>
            </a:r>
            <a:endParaRPr lang="en-US"/>
          </a:p>
          <a:p>
            <a:r>
              <a:t>In the last section of "UOB_Malaya-speech_fine-tune.ipynb"</a:t>
            </a:r>
            <a:r>
              <a:rPr lang="en-US"/>
              <a:t>:</a:t>
            </a:r>
            <a:endParaRPr lang="en-US"/>
          </a:p>
          <a:p/>
          <a:p>
            <a:endParaRPr lang="zh-CN" altLang="en-US">
              <a:sym typeface="+mn-ea"/>
            </a:endParaRPr>
          </a:p>
          <a:p>
            <a:endParaRPr lang="zh-CN" altLang="en-US">
              <a:sym typeface="+mn-ea"/>
            </a:endParaRPr>
          </a:p>
          <a:p>
            <a:endParaRPr lang="zh-CN" altLang="en-US">
              <a:sym typeface="+mn-ea"/>
            </a:endParaRPr>
          </a:p>
          <a:p>
            <a:endParaRPr lang="zh-CN" altLang="en-US">
              <a:sym typeface="+mn-ea"/>
            </a:endParaRPr>
          </a:p>
          <a:p>
            <a:endParaRPr lang="zh-CN" altLang="en-US">
              <a:sym typeface="+mn-ea"/>
            </a:endParaRPr>
          </a:p>
        </p:txBody>
      </p:sp>
      <p:pic>
        <p:nvPicPr>
          <p:cNvPr id="4" name="Picture 3"/>
          <p:cNvPicPr>
            <a:picLocks noChangeAspect="1"/>
          </p:cNvPicPr>
          <p:nvPr/>
        </p:nvPicPr>
        <p:blipFill>
          <a:blip r:embed="rId1"/>
          <a:stretch>
            <a:fillRect/>
          </a:stretch>
        </p:blipFill>
        <p:spPr>
          <a:xfrm>
            <a:off x="1155065" y="2593340"/>
            <a:ext cx="7155180" cy="3956050"/>
          </a:xfrm>
          <a:prstGeom prst="rect">
            <a:avLst/>
          </a:prstGeom>
        </p:spPr>
      </p:pic>
      <p:sp>
        <p:nvSpPr>
          <p:cNvPr id="5" name="Text Box 4"/>
          <p:cNvSpPr txBox="1"/>
          <p:nvPr/>
        </p:nvSpPr>
        <p:spPr>
          <a:xfrm>
            <a:off x="8441055" y="2983865"/>
            <a:ext cx="3296920" cy="2553335"/>
          </a:xfrm>
          <a:prstGeom prst="rect">
            <a:avLst/>
          </a:prstGeom>
          <a:noFill/>
        </p:spPr>
        <p:txBody>
          <a:bodyPr wrap="square" rtlCol="0" anchor="t">
            <a:spAutoFit/>
          </a:bodyPr>
          <a:p>
            <a:r>
              <a:rPr sz="2000">
                <a:sym typeface="+mn-ea"/>
              </a:rPr>
              <a:t>The meaning of each </a:t>
            </a:r>
            <a:r>
              <a:rPr sz="2000" b="1">
                <a:sym typeface="+mn-ea"/>
              </a:rPr>
              <a:t>parameter </a:t>
            </a:r>
            <a:r>
              <a:rPr lang="en-US" sz="2000">
                <a:sym typeface="+mn-ea"/>
              </a:rPr>
              <a:t>in details </a:t>
            </a:r>
            <a:r>
              <a:rPr sz="2000">
                <a:sym typeface="+mn-ea"/>
              </a:rPr>
              <a:t>can be found in</a:t>
            </a:r>
            <a:r>
              <a:rPr lang="en-US" sz="2000">
                <a:sym typeface="+mn-ea"/>
              </a:rPr>
              <a:t>:</a:t>
            </a:r>
            <a:endParaRPr lang="en-US" sz="2000">
              <a:sym typeface="+mn-ea"/>
            </a:endParaRPr>
          </a:p>
          <a:p>
            <a:endParaRPr lang="zh-CN" sz="2000">
              <a:sym typeface="+mn-ea"/>
            </a:endParaRPr>
          </a:p>
          <a:p>
            <a:r>
              <a:rPr lang="zh-CN" altLang="en-US" sz="2000">
                <a:sym typeface="+mn-ea"/>
              </a:rPr>
              <a:t>https://huggingface.co/transformers/v3.5.1/main_classes/trainer.html#transformers.TrainingArguments</a:t>
            </a:r>
            <a:endParaRPr lang="zh-CN" altLang="en-US" sz="2000">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sym typeface="+mn-ea"/>
              </a:rPr>
              <a:t>Part 3: set the approximate parameters and get a fine-tuned model</a:t>
            </a:r>
            <a:endParaRPr lang="en-US"/>
          </a:p>
        </p:txBody>
      </p:sp>
      <p:sp>
        <p:nvSpPr>
          <p:cNvPr id="3" name="Content Placeholder 2"/>
          <p:cNvSpPr>
            <a:spLocks noGrp="1"/>
          </p:cNvSpPr>
          <p:nvPr>
            <p:ph idx="1"/>
          </p:nvPr>
        </p:nvSpPr>
        <p:spPr/>
        <p:txBody>
          <a:bodyPr>
            <a:normAutofit fontScale="70000"/>
          </a:bodyPr>
          <a:p>
            <a:r>
              <a:rPr lang="en-US">
                <a:sym typeface="+mn-ea"/>
              </a:rPr>
              <a:t>2) required parameters recommendation</a:t>
            </a:r>
            <a:endParaRPr>
              <a:sym typeface="+mn-ea"/>
            </a:endParaRPr>
          </a:p>
          <a:p>
            <a:r>
              <a:rPr lang="zh-CN" altLang="en-US">
                <a:sym typeface="+mn-ea"/>
              </a:rPr>
              <a:t>Some suggestions for training parameter settings</a:t>
            </a:r>
            <a:r>
              <a:rPr lang="en-US" altLang="zh-CN">
                <a:sym typeface="+mn-ea"/>
              </a:rPr>
              <a:t>:</a:t>
            </a:r>
            <a:endParaRPr lang="en-US" altLang="zh-CN">
              <a:sym typeface="+mn-ea"/>
            </a:endParaRPr>
          </a:p>
          <a:p>
            <a:r>
              <a:rPr lang="en-US" altLang="zh-CN">
                <a:sym typeface="+mn-ea"/>
              </a:rPr>
              <a:t>(1)</a:t>
            </a:r>
            <a:r>
              <a:rPr>
                <a:sym typeface="+mn-ea"/>
              </a:rPr>
              <a:t>If you set </a:t>
            </a:r>
            <a:r>
              <a:rPr b="1">
                <a:sym typeface="+mn-ea"/>
              </a:rPr>
              <a:t>evaluation_strategy="steps", save_steps=100, eval_steps=100</a:t>
            </a:r>
            <a:r>
              <a:rPr>
                <a:sym typeface="+mn-ea"/>
              </a:rPr>
              <a:t>, the model will </a:t>
            </a:r>
            <a:r>
              <a:rPr b="1">
                <a:sym typeface="+mn-ea"/>
              </a:rPr>
              <a:t>evaluate the effect of the model every 100 steps</a:t>
            </a:r>
            <a:r>
              <a:rPr>
                <a:sym typeface="+mn-ea"/>
              </a:rPr>
              <a:t> of training, and </a:t>
            </a:r>
            <a:r>
              <a:rPr b="1">
                <a:sym typeface="+mn-ea"/>
              </a:rPr>
              <a:t>store the checkpoints after the model update </a:t>
            </a:r>
            <a:r>
              <a:rPr lang="en-US" b="1">
                <a:sym typeface="+mn-ea"/>
              </a:rPr>
              <a:t>every 100 steps</a:t>
            </a:r>
            <a:r>
              <a:rPr>
                <a:sym typeface="+mn-ea"/>
              </a:rPr>
              <a:t>, and the related files will exist in new/model/folder/checkpoint -100, new/model/folder/checkpoint-200... inside. If </a:t>
            </a:r>
            <a:r>
              <a:rPr b="1">
                <a:sym typeface="+mn-ea"/>
              </a:rPr>
              <a:t>the amount of data</a:t>
            </a:r>
            <a:r>
              <a:rPr>
                <a:sym typeface="+mn-ea"/>
              </a:rPr>
              <a:t> in the training set is </a:t>
            </a:r>
            <a:r>
              <a:rPr b="1">
                <a:sym typeface="+mn-ea"/>
              </a:rPr>
              <a:t>small</a:t>
            </a:r>
            <a:r>
              <a:rPr>
                <a:sym typeface="+mn-ea"/>
              </a:rPr>
              <a:t>, it is recommended to </a:t>
            </a:r>
            <a:r>
              <a:rPr b="1">
                <a:sym typeface="+mn-ea"/>
              </a:rPr>
              <a:t>set eval_steps </a:t>
            </a:r>
            <a:r>
              <a:rPr lang="en-US" b="1">
                <a:sym typeface="+mn-ea"/>
              </a:rPr>
              <a:t>and save_steps</a:t>
            </a:r>
            <a:r>
              <a:rPr b="1">
                <a:sym typeface="+mn-ea"/>
              </a:rPr>
              <a:t> to be small</a:t>
            </a:r>
            <a:r>
              <a:rPr>
                <a:sym typeface="+mn-ea"/>
              </a:rPr>
              <a:t>, such as eval_steps=10, otherwise the model may not have the result of the training process</a:t>
            </a:r>
            <a:endParaRPr>
              <a:sym typeface="+mn-ea"/>
            </a:endParaRPr>
          </a:p>
          <a:p>
            <a:r>
              <a:rPr lang="en-US" altLang="zh-CN">
                <a:sym typeface="+mn-ea"/>
              </a:rPr>
              <a:t>(2)</a:t>
            </a:r>
            <a:r>
              <a:rPr lang="zh-CN" altLang="en-US">
                <a:sym typeface="+mn-ea"/>
              </a:rPr>
              <a:t>In general, the smaller the </a:t>
            </a:r>
            <a:r>
              <a:rPr lang="zh-CN" altLang="en-US" b="1">
                <a:sym typeface="+mn-ea"/>
              </a:rPr>
              <a:t>learning_rate</a:t>
            </a:r>
            <a:r>
              <a:rPr lang="zh-CN" altLang="en-US">
                <a:sym typeface="+mn-ea"/>
              </a:rPr>
              <a:t> setting, the more detailed the model will learn (the better the learning effect), but it is also more likely to cause overfitting, which affects the normal recognition of non-training data</a:t>
            </a:r>
            <a:endParaRPr lang="zh-CN" altLang="en-US">
              <a:sym typeface="+mn-ea"/>
            </a:endParaRPr>
          </a:p>
          <a:p>
            <a:r>
              <a:rPr>
                <a:sym typeface="+mn-ea"/>
              </a:rPr>
              <a:t>It is recommended to set learning_rate to </a:t>
            </a:r>
            <a:r>
              <a:rPr b="1">
                <a:sym typeface="+mn-ea"/>
              </a:rPr>
              <a:t>0.0002</a:t>
            </a:r>
            <a:r>
              <a:rPr>
                <a:sym typeface="+mn-ea"/>
              </a:rPr>
              <a:t> or </a:t>
            </a:r>
            <a:r>
              <a:rPr b="1">
                <a:sym typeface="+mn-ea"/>
              </a:rPr>
              <a:t>0.0005</a:t>
            </a:r>
            <a:r>
              <a:rPr>
                <a:sym typeface="+mn-ea"/>
              </a:rPr>
              <a:t> or </a:t>
            </a:r>
            <a:r>
              <a:rPr b="1">
                <a:sym typeface="+mn-ea"/>
              </a:rPr>
              <a:t>0.0001</a:t>
            </a:r>
            <a:endParaRPr>
              <a:sym typeface="+mn-ea"/>
            </a:endParaRPr>
          </a:p>
          <a:p>
            <a:endParaRPr lang="zh-CN" altLang="en-US">
              <a:sym typeface="+mn-ea"/>
            </a:endParaRPr>
          </a:p>
          <a:p>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sym typeface="+mn-ea"/>
              </a:rPr>
              <a:t>Part 3: set the approximate parameters and get a fine-tuned model</a:t>
            </a:r>
            <a:endParaRPr lang="en-US"/>
          </a:p>
        </p:txBody>
      </p:sp>
      <p:sp>
        <p:nvSpPr>
          <p:cNvPr id="3" name="Content Placeholder 2"/>
          <p:cNvSpPr>
            <a:spLocks noGrp="1"/>
          </p:cNvSpPr>
          <p:nvPr>
            <p:ph idx="1"/>
          </p:nvPr>
        </p:nvSpPr>
        <p:spPr/>
        <p:txBody>
          <a:bodyPr>
            <a:normAutofit fontScale="90000" lnSpcReduction="20000"/>
          </a:bodyPr>
          <a:p>
            <a:r>
              <a:rPr lang="en-US">
                <a:sym typeface="+mn-ea"/>
              </a:rPr>
              <a:t>2) required parameters recommendation</a:t>
            </a:r>
            <a:endParaRPr>
              <a:sym typeface="+mn-ea"/>
            </a:endParaRPr>
          </a:p>
          <a:p>
            <a:r>
              <a:rPr lang="zh-CN" altLang="en-US">
                <a:sym typeface="+mn-ea"/>
              </a:rPr>
              <a:t>Some suggestions for training parameter settings</a:t>
            </a:r>
            <a:r>
              <a:rPr lang="en-US" altLang="zh-CN">
                <a:sym typeface="+mn-ea"/>
              </a:rPr>
              <a:t>:</a:t>
            </a:r>
            <a:endParaRPr lang="en-US" altLang="zh-CN">
              <a:sym typeface="+mn-ea"/>
            </a:endParaRPr>
          </a:p>
          <a:p>
            <a:r>
              <a:rPr lang="en-US" altLang="zh-CN"/>
              <a:t>(3) </a:t>
            </a:r>
            <a:r>
              <a:rPr lang="en-US" altLang="zh-CN" b="1"/>
              <a:t>per_device_train_batch_size</a:t>
            </a:r>
            <a:r>
              <a:rPr lang="en-US" altLang="zh-CN"/>
              <a:t>: If the GPU capacity is not large enough, it is recommended to set this parameter to </a:t>
            </a:r>
            <a:r>
              <a:rPr lang="en-US" altLang="zh-CN" b="1"/>
              <a:t>2</a:t>
            </a:r>
            <a:r>
              <a:rPr lang="en-US" altLang="zh-CN"/>
              <a:t>. If the GPU is relatively strong, it can be set to 4 or 8</a:t>
            </a:r>
            <a:endParaRPr lang="en-US" altLang="zh-CN"/>
          </a:p>
          <a:p>
            <a:r>
              <a:rPr lang="en-US" altLang="zh-CN"/>
              <a:t>(4) </a:t>
            </a:r>
            <a:r>
              <a:rPr lang="en-US" altLang="zh-CN" b="1"/>
              <a:t>num_train_epochs</a:t>
            </a:r>
            <a:r>
              <a:rPr lang="en-US" altLang="zh-CN"/>
              <a:t>: One epoch indicates that the model has been learned once based on all the data, and subsequent epochs will iteratively learn based on it. Since we are just fine-tune, not training a model from scratch, we generally set the </a:t>
            </a:r>
            <a:r>
              <a:rPr lang="en-US" altLang="zh-CN" b="1">
                <a:sym typeface="+mn-ea"/>
              </a:rPr>
              <a:t>num_train_epochs</a:t>
            </a:r>
            <a:r>
              <a:rPr lang="en-US" altLang="zh-CN"/>
              <a:t> = </a:t>
            </a:r>
            <a:r>
              <a:rPr lang="en-US" altLang="zh-CN" b="1"/>
              <a:t>10 </a:t>
            </a:r>
            <a:r>
              <a:rPr lang="zh-CN" altLang="en-US" b="1"/>
              <a:t>～</a:t>
            </a:r>
            <a:r>
              <a:rPr lang="en-US" altLang="zh-CN" b="1"/>
              <a:t> 30</a:t>
            </a:r>
            <a:r>
              <a:rPr lang="en-US" altLang="zh-CN"/>
              <a:t>. Too much will lead to overfitting of the model.</a:t>
            </a:r>
            <a:endParaRPr lang="en-US" altLang="zh-CN"/>
          </a:p>
          <a:p>
            <a:r>
              <a:rPr lang="en-US" altLang="zh-CN"/>
              <a:t>(5) </a:t>
            </a:r>
            <a:r>
              <a:rPr lang="en-US" altLang="zh-CN" b="1"/>
              <a:t>warmup_steps</a:t>
            </a:r>
            <a:r>
              <a:rPr lang="en-US" altLang="zh-CN"/>
              <a:t>: The number of training steps before starting to record the results of the training process, which can be set to 0. If the training set is large, you can set some warm-up steps</a:t>
            </a:r>
            <a:endParaRPr lang="en-US" altLang="zh-C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sym typeface="+mn-ea"/>
              </a:rPr>
              <a:t>Part 3: set the approximate parameters and get a fine-tuned model</a:t>
            </a:r>
            <a:endParaRPr lang="en-US"/>
          </a:p>
        </p:txBody>
      </p:sp>
      <p:sp>
        <p:nvSpPr>
          <p:cNvPr id="3" name="Content Placeholder 2"/>
          <p:cNvSpPr>
            <a:spLocks noGrp="1"/>
          </p:cNvSpPr>
          <p:nvPr>
            <p:ph idx="1"/>
          </p:nvPr>
        </p:nvSpPr>
        <p:spPr/>
        <p:txBody>
          <a:bodyPr/>
          <a:p>
            <a:r>
              <a:rPr lang="en-US"/>
              <a:t>3) get a fine-tuned model</a:t>
            </a:r>
            <a:endParaRPr lang="en-US"/>
          </a:p>
          <a:p>
            <a:endParaRPr lang="en-US"/>
          </a:p>
          <a:p>
            <a:endParaRPr lang="en-US"/>
          </a:p>
        </p:txBody>
      </p:sp>
      <p:sp>
        <p:nvSpPr>
          <p:cNvPr id="5" name="Text Box 4"/>
          <p:cNvSpPr txBox="1"/>
          <p:nvPr/>
        </p:nvSpPr>
        <p:spPr>
          <a:xfrm>
            <a:off x="5488305" y="3186430"/>
            <a:ext cx="3950335" cy="1630045"/>
          </a:xfrm>
          <a:prstGeom prst="rect">
            <a:avLst/>
          </a:prstGeom>
          <a:noFill/>
        </p:spPr>
        <p:txBody>
          <a:bodyPr wrap="square" rtlCol="0">
            <a:spAutoFit/>
          </a:bodyPr>
          <a:p>
            <a:r>
              <a:rPr sz="2000">
                <a:solidFill>
                  <a:schemeClr val="tx1"/>
                </a:solidFill>
              </a:rPr>
              <a:t>There will be these files in the new_model_folder at this time. The </a:t>
            </a:r>
            <a:r>
              <a:rPr sz="2000">
                <a:solidFill>
                  <a:srgbClr val="FF0000"/>
                </a:solidFill>
              </a:rPr>
              <a:t>six circled files</a:t>
            </a:r>
            <a:r>
              <a:rPr sz="2000">
                <a:solidFill>
                  <a:schemeClr val="tx1"/>
                </a:solidFill>
              </a:rPr>
              <a:t> will be used to run the model later (other files are not used and can be deleted)</a:t>
            </a:r>
            <a:endParaRPr sz="2000">
              <a:solidFill>
                <a:schemeClr val="tx1"/>
              </a:solidFill>
            </a:endParaRPr>
          </a:p>
        </p:txBody>
      </p:sp>
      <p:pic>
        <p:nvPicPr>
          <p:cNvPr id="10" name="Picture 9"/>
          <p:cNvPicPr>
            <a:picLocks noChangeAspect="1"/>
          </p:cNvPicPr>
          <p:nvPr/>
        </p:nvPicPr>
        <p:blipFill>
          <a:blip r:embed="rId1"/>
          <a:stretch>
            <a:fillRect/>
          </a:stretch>
        </p:blipFill>
        <p:spPr>
          <a:xfrm>
            <a:off x="987425" y="2546350"/>
            <a:ext cx="3561080" cy="3717925"/>
          </a:xfrm>
          <a:prstGeom prst="rect">
            <a:avLst/>
          </a:prstGeom>
        </p:spPr>
      </p:pic>
      <p:sp>
        <p:nvSpPr>
          <p:cNvPr id="11" name="Rectangle 10"/>
          <p:cNvSpPr/>
          <p:nvPr/>
        </p:nvSpPr>
        <p:spPr>
          <a:xfrm>
            <a:off x="1667510" y="3916045"/>
            <a:ext cx="2703830" cy="319405"/>
          </a:xfrm>
          <a:prstGeom prst="rect">
            <a:avLst/>
          </a:prstGeom>
          <a:noFill/>
          <a:ln w="19050">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3" name="Rectangle 12"/>
          <p:cNvSpPr/>
          <p:nvPr/>
        </p:nvSpPr>
        <p:spPr>
          <a:xfrm>
            <a:off x="1667510" y="4271645"/>
            <a:ext cx="2703830" cy="319405"/>
          </a:xfrm>
          <a:prstGeom prst="rect">
            <a:avLst/>
          </a:prstGeom>
          <a:noFill/>
          <a:ln w="19050">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4" name="Rectangle 13"/>
          <p:cNvSpPr/>
          <p:nvPr/>
        </p:nvSpPr>
        <p:spPr>
          <a:xfrm>
            <a:off x="1667510" y="4591050"/>
            <a:ext cx="2703830" cy="319405"/>
          </a:xfrm>
          <a:prstGeom prst="rect">
            <a:avLst/>
          </a:prstGeom>
          <a:noFill/>
          <a:ln w="19050">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5" name="Rectangle 14"/>
          <p:cNvSpPr/>
          <p:nvPr/>
        </p:nvSpPr>
        <p:spPr>
          <a:xfrm>
            <a:off x="1667510" y="5944870"/>
            <a:ext cx="2703830" cy="319405"/>
          </a:xfrm>
          <a:prstGeom prst="rect">
            <a:avLst/>
          </a:prstGeom>
          <a:noFill/>
          <a:ln w="19050">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6" name="Rectangle 15"/>
          <p:cNvSpPr/>
          <p:nvPr/>
        </p:nvSpPr>
        <p:spPr>
          <a:xfrm>
            <a:off x="1667510" y="4910455"/>
            <a:ext cx="2703830" cy="319405"/>
          </a:xfrm>
          <a:prstGeom prst="rect">
            <a:avLst/>
          </a:prstGeom>
          <a:noFill/>
          <a:ln w="19050">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7" name="Rectangle 16"/>
          <p:cNvSpPr/>
          <p:nvPr/>
        </p:nvSpPr>
        <p:spPr>
          <a:xfrm>
            <a:off x="1667510" y="5266055"/>
            <a:ext cx="2703830" cy="319405"/>
          </a:xfrm>
          <a:prstGeom prst="rect">
            <a:avLst/>
          </a:prstGeom>
          <a:noFill/>
          <a:ln w="19050">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Use the fine-tuned model</a:t>
            </a:r>
            <a:endParaRPr lang="en-US"/>
          </a:p>
        </p:txBody>
      </p:sp>
      <p:sp>
        <p:nvSpPr>
          <p:cNvPr id="3" name="Content Placeholder 2"/>
          <p:cNvSpPr>
            <a:spLocks noGrp="1"/>
          </p:cNvSpPr>
          <p:nvPr>
            <p:ph idx="1"/>
          </p:nvPr>
        </p:nvSpPr>
        <p:spPr>
          <a:xfrm>
            <a:off x="838200" y="1253490"/>
            <a:ext cx="10515600" cy="4351338"/>
          </a:xfrm>
        </p:spPr>
        <p:txBody>
          <a:bodyPr>
            <a:normAutofit lnSpcReduction="10000"/>
          </a:bodyPr>
          <a:p>
            <a:r>
              <a:rPr lang="en-US" sz="2000"/>
              <a:t>Simple testing:</a:t>
            </a:r>
            <a:endParaRPr lang="en-US" sz="2000"/>
          </a:p>
          <a:p>
            <a:pPr marL="0" indent="0">
              <a:buNone/>
            </a:pPr>
            <a:r>
              <a:rPr sz="2000"/>
              <a:t>At the end of the "UOB_Malaya-speech_fine-tune.ipynb" file there is code for a simple test of the fine-tuned model</a:t>
            </a:r>
            <a:endParaRPr sz="2000"/>
          </a:p>
          <a:p>
            <a:pPr marL="0" indent="0">
              <a:buNone/>
            </a:pPr>
            <a:endParaRPr lang="en-US">
              <a:sym typeface="+mn-ea"/>
            </a:endParaRPr>
          </a:p>
          <a:p>
            <a:pPr marL="0" indent="0">
              <a:buNone/>
            </a:pPr>
            <a:endParaRPr lang="en-US">
              <a:sym typeface="+mn-ea"/>
            </a:endParaRPr>
          </a:p>
          <a:p>
            <a:pPr marL="0" indent="0">
              <a:buNone/>
            </a:pPr>
            <a:endParaRPr lang="en-US">
              <a:sym typeface="+mn-ea"/>
            </a:endParaRPr>
          </a:p>
          <a:p>
            <a:pPr marL="0" indent="0">
              <a:buNone/>
            </a:pPr>
            <a:endParaRPr lang="en-US">
              <a:sym typeface="+mn-ea"/>
            </a:endParaRPr>
          </a:p>
          <a:p>
            <a:pPr marL="0" indent="0">
              <a:buNone/>
            </a:pPr>
            <a:endParaRPr lang="zh-CN" altLang="en-US">
              <a:sym typeface="+mn-ea"/>
            </a:endParaRPr>
          </a:p>
          <a:p>
            <a:endParaRPr lang="en-US"/>
          </a:p>
          <a:p>
            <a:endParaRPr lang="en-US"/>
          </a:p>
          <a:p>
            <a:endParaRPr lang="en-US"/>
          </a:p>
        </p:txBody>
      </p:sp>
      <p:pic>
        <p:nvPicPr>
          <p:cNvPr id="5" name="Picture 4"/>
          <p:cNvPicPr>
            <a:picLocks noChangeAspect="1"/>
          </p:cNvPicPr>
          <p:nvPr/>
        </p:nvPicPr>
        <p:blipFill>
          <a:blip r:embed="rId1"/>
          <a:stretch>
            <a:fillRect/>
          </a:stretch>
        </p:blipFill>
        <p:spPr>
          <a:xfrm>
            <a:off x="987425" y="2210435"/>
            <a:ext cx="5368290" cy="4587240"/>
          </a:xfrm>
          <a:prstGeom prst="rect">
            <a:avLst/>
          </a:prstGeom>
        </p:spPr>
      </p:pic>
      <p:sp>
        <p:nvSpPr>
          <p:cNvPr id="15" name="Rectangle 14"/>
          <p:cNvSpPr/>
          <p:nvPr/>
        </p:nvSpPr>
        <p:spPr>
          <a:xfrm>
            <a:off x="2319655" y="6478270"/>
            <a:ext cx="2703830" cy="319405"/>
          </a:xfrm>
          <a:prstGeom prst="rect">
            <a:avLst/>
          </a:prstGeom>
          <a:noFill/>
          <a:ln w="19050">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6" name="Rectangle 5"/>
          <p:cNvSpPr/>
          <p:nvPr/>
        </p:nvSpPr>
        <p:spPr>
          <a:xfrm>
            <a:off x="3651885" y="3971290"/>
            <a:ext cx="2703830" cy="319405"/>
          </a:xfrm>
          <a:prstGeom prst="rect">
            <a:avLst/>
          </a:prstGeom>
          <a:noFill/>
          <a:ln w="19050">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7" name="Text Box 6"/>
          <p:cNvSpPr txBox="1"/>
          <p:nvPr/>
        </p:nvSpPr>
        <p:spPr>
          <a:xfrm>
            <a:off x="6539865" y="3669665"/>
            <a:ext cx="3926205" cy="922020"/>
          </a:xfrm>
          <a:prstGeom prst="rect">
            <a:avLst/>
          </a:prstGeom>
          <a:noFill/>
        </p:spPr>
        <p:txBody>
          <a:bodyPr wrap="square" rtlCol="0">
            <a:spAutoFit/>
          </a:bodyPr>
          <a:p>
            <a:pPr algn="l"/>
            <a:r>
              <a:rPr lang="en-US">
                <a:solidFill>
                  <a:srgbClr val="FF0000"/>
                </a:solidFill>
                <a:sym typeface="+mn-ea"/>
              </a:rPr>
              <a:t>here put the path to the newly generated (fine-tuned) model folder (contains six files mentioned before)</a:t>
            </a:r>
            <a:endParaRPr lang="en-US">
              <a:solidFill>
                <a:srgbClr val="FF0000"/>
              </a:solidFill>
              <a:sym typeface="+mn-ea"/>
            </a:endParaRPr>
          </a:p>
        </p:txBody>
      </p:sp>
      <p:sp>
        <p:nvSpPr>
          <p:cNvPr id="4" name="Text Box 3"/>
          <p:cNvSpPr txBox="1"/>
          <p:nvPr/>
        </p:nvSpPr>
        <p:spPr>
          <a:xfrm>
            <a:off x="5307330" y="5381625"/>
            <a:ext cx="3926205" cy="1476375"/>
          </a:xfrm>
          <a:prstGeom prst="rect">
            <a:avLst/>
          </a:prstGeom>
          <a:noFill/>
        </p:spPr>
        <p:txBody>
          <a:bodyPr wrap="square" rtlCol="0">
            <a:spAutoFit/>
          </a:bodyPr>
          <a:p>
            <a:pPr algn="l"/>
            <a:r>
              <a:rPr lang="en-US">
                <a:solidFill>
                  <a:srgbClr val="FF0000"/>
                </a:solidFill>
                <a:sym typeface="+mn-ea"/>
              </a:rPr>
              <a:t>here put the path to the testing audio (should be a small slice of audio, can use the testing set data directly), </a:t>
            </a:r>
            <a:r>
              <a:rPr lang="zh-CN" altLang="en-US">
                <a:solidFill>
                  <a:srgbClr val="FF0000"/>
                </a:solidFill>
                <a:sym typeface="+mn-ea"/>
              </a:rPr>
              <a:t>Check if the model can run successfully</a:t>
            </a:r>
            <a:endParaRPr lang="zh-CN" altLang="en-US">
              <a:solidFill>
                <a:srgbClr val="FF0000"/>
              </a:solidFill>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a:sym typeface="+mn-ea"/>
              </a:rPr>
              <a:t>Use the fine-tuned model</a:t>
            </a:r>
            <a:endParaRPr lang="en-US"/>
          </a:p>
        </p:txBody>
      </p:sp>
      <p:sp>
        <p:nvSpPr>
          <p:cNvPr id="3" name="Content Placeholder 2"/>
          <p:cNvSpPr>
            <a:spLocks noGrp="1"/>
          </p:cNvSpPr>
          <p:nvPr>
            <p:ph idx="1"/>
          </p:nvPr>
        </p:nvSpPr>
        <p:spPr>
          <a:xfrm>
            <a:off x="723265" y="1397000"/>
            <a:ext cx="10515600" cy="5145405"/>
          </a:xfrm>
        </p:spPr>
        <p:txBody>
          <a:bodyPr>
            <a:normAutofit fontScale="60000"/>
          </a:bodyPr>
          <a:p>
            <a:r>
              <a:rPr lang="en-US">
                <a:solidFill>
                  <a:schemeClr val="tx1"/>
                </a:solidFill>
                <a:sym typeface="+mn-ea"/>
              </a:rPr>
              <a:t>Replace the old model with fine-tuned model: </a:t>
            </a:r>
            <a:endParaRPr lang="zh-CN" altLang="en-US">
              <a:solidFill>
                <a:schemeClr val="tx1"/>
              </a:solidFill>
              <a:sym typeface="+mn-ea"/>
            </a:endParaRPr>
          </a:p>
          <a:p>
            <a:pPr marL="0" indent="0">
              <a:buNone/>
            </a:pPr>
            <a:r>
              <a:rPr lang="en-US">
                <a:solidFill>
                  <a:schemeClr val="tx1"/>
                </a:solidFill>
              </a:rPr>
              <a:t>In the whole system code, in the “pretrained-model” folder, replace the six files in the “malaya-wav2vec2” folder from old model's to new fine-tuned model's</a:t>
            </a:r>
            <a:endParaRPr lang="en-US">
              <a:solidFill>
                <a:schemeClr val="tx1"/>
              </a:solidFill>
            </a:endParaRPr>
          </a:p>
          <a:p>
            <a:pPr marL="0" indent="0">
              <a:buNone/>
            </a:pPr>
            <a:r>
              <a:rPr lang="en-US">
                <a:solidFill>
                  <a:schemeClr val="tx1"/>
                </a:solidFill>
              </a:rPr>
              <a:t>Then can run the whole analysis system with the fine-tuned STT model</a:t>
            </a:r>
            <a:endParaRPr lang="en-US">
              <a:solidFill>
                <a:schemeClr val="accent3"/>
              </a:solidFill>
            </a:endParaRPr>
          </a:p>
          <a:p>
            <a:pPr marL="0" indent="0">
              <a:buNone/>
            </a:pPr>
            <a:endParaRPr lang="en-US">
              <a:solidFill>
                <a:schemeClr val="accent3"/>
              </a:solidFill>
            </a:endParaRPr>
          </a:p>
          <a:p>
            <a:pPr marL="0" indent="0">
              <a:buNone/>
            </a:pPr>
            <a:endParaRPr lang="en-US">
              <a:solidFill>
                <a:schemeClr val="accent3"/>
              </a:solidFill>
            </a:endParaRPr>
          </a:p>
          <a:p>
            <a:pPr marL="0" indent="0">
              <a:buNone/>
            </a:pPr>
            <a:endParaRPr lang="en-US">
              <a:solidFill>
                <a:schemeClr val="accent3"/>
              </a:solidFill>
            </a:endParaRPr>
          </a:p>
          <a:p>
            <a:pPr marL="0" indent="0">
              <a:buNone/>
            </a:pPr>
            <a:endParaRPr lang="en-US">
              <a:solidFill>
                <a:schemeClr val="accent3"/>
              </a:solidFill>
            </a:endParaRPr>
          </a:p>
          <a:p>
            <a:pPr marL="0" indent="0">
              <a:buNone/>
            </a:pPr>
            <a:endParaRPr lang="en-US">
              <a:solidFill>
                <a:schemeClr val="accent3"/>
              </a:solidFill>
            </a:endParaRPr>
          </a:p>
          <a:p>
            <a:pPr marL="0" indent="0">
              <a:buNone/>
            </a:pPr>
            <a:endParaRPr lang="en-US">
              <a:solidFill>
                <a:schemeClr val="accent3"/>
              </a:solidFill>
            </a:endParaRPr>
          </a:p>
          <a:p>
            <a:pPr marL="0" indent="0">
              <a:buNone/>
            </a:pPr>
            <a:endParaRPr lang="en-US">
              <a:solidFill>
                <a:schemeClr val="accent3"/>
              </a:solidFill>
            </a:endParaRPr>
          </a:p>
          <a:p>
            <a:pPr marL="0" indent="0">
              <a:buNone/>
            </a:pPr>
            <a:endParaRPr lang="en-US">
              <a:solidFill>
                <a:schemeClr val="accent3"/>
              </a:solidFill>
            </a:endParaRPr>
          </a:p>
          <a:p>
            <a:pPr marL="0" indent="0">
              <a:buNone/>
            </a:pPr>
            <a:endParaRPr lang="en-US">
              <a:solidFill>
                <a:schemeClr val="accent3"/>
              </a:solidFill>
            </a:endParaRPr>
          </a:p>
          <a:p>
            <a:pPr marL="0" indent="0">
              <a:buNone/>
            </a:pPr>
            <a:r>
              <a:rPr lang="en-US">
                <a:solidFill>
                  <a:schemeClr val="tx1"/>
                </a:solidFill>
              </a:rPr>
              <a:t>(Inside the fine-tuned model folder (malaya-wav2vec2) should include these </a:t>
            </a:r>
            <a:r>
              <a:rPr lang="en-US" b="1">
                <a:solidFill>
                  <a:schemeClr val="tx1"/>
                </a:solidFill>
              </a:rPr>
              <a:t>six files</a:t>
            </a:r>
            <a:r>
              <a:rPr lang="en-US">
                <a:solidFill>
                  <a:schemeClr val="tx1"/>
                </a:solidFill>
              </a:rPr>
              <a:t>: pytorch_model.bin, config.json, preprocessor_config.json, special_tokens_map.json, vocab.json, tokenizer_config.json)</a:t>
            </a:r>
            <a:endParaRPr lang="en-US">
              <a:solidFill>
                <a:schemeClr val="tx1"/>
              </a:solidFill>
            </a:endParaRPr>
          </a:p>
        </p:txBody>
      </p:sp>
      <p:pic>
        <p:nvPicPr>
          <p:cNvPr id="5" name="Picture 4" descr="STT_model_pkg_place"/>
          <p:cNvPicPr>
            <a:picLocks noChangeAspect="1"/>
          </p:cNvPicPr>
          <p:nvPr/>
        </p:nvPicPr>
        <p:blipFill>
          <a:blip r:embed="rId1"/>
          <a:stretch>
            <a:fillRect/>
          </a:stretch>
        </p:blipFill>
        <p:spPr>
          <a:xfrm>
            <a:off x="1223645" y="2757170"/>
            <a:ext cx="3873500" cy="3072130"/>
          </a:xfrm>
          <a:prstGeom prst="rect">
            <a:avLst/>
          </a:prstGeom>
        </p:spPr>
      </p:pic>
      <p:sp>
        <p:nvSpPr>
          <p:cNvPr id="6" name="Rectangle 5"/>
          <p:cNvSpPr/>
          <p:nvPr/>
        </p:nvSpPr>
        <p:spPr>
          <a:xfrm>
            <a:off x="1362075" y="4133215"/>
            <a:ext cx="2703830" cy="319405"/>
          </a:xfrm>
          <a:prstGeom prst="rect">
            <a:avLst/>
          </a:prstGeom>
          <a:noFill/>
          <a:ln w="19050">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9017</Words>
  <Application>WPS Writer</Application>
  <PresentationFormat>Widescreen</PresentationFormat>
  <Paragraphs>263</Paragraphs>
  <Slides>24</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24</vt:i4>
      </vt:variant>
    </vt:vector>
  </HeadingPairs>
  <TitlesOfParts>
    <vt:vector size="36" baseType="lpstr">
      <vt:lpstr>Arial</vt:lpstr>
      <vt:lpstr>SimSun</vt:lpstr>
      <vt:lpstr>Wingdings</vt:lpstr>
      <vt:lpstr>Arial Bold</vt:lpstr>
      <vt:lpstr>Calibri Light</vt:lpstr>
      <vt:lpstr>Helvetica Neue</vt:lpstr>
      <vt:lpstr>Calibri</vt:lpstr>
      <vt:lpstr>微软雅黑</vt:lpstr>
      <vt:lpstr>汉仪旗黑</vt:lpstr>
      <vt:lpstr>Arial Unicode MS</vt:lpstr>
      <vt:lpstr>汉仪书宋二KW</vt:lpstr>
      <vt:lpstr>Office Theme</vt:lpstr>
      <vt:lpstr>Fine-tune STT model</vt:lpstr>
      <vt:lpstr>PowerPoint 演示文稿</vt:lpstr>
      <vt:lpstr>Part 1  prepare fine-tuning dataset</vt:lpstr>
      <vt:lpstr>Part 1  prepare fine-tuning dataset</vt:lpstr>
      <vt:lpstr>Part 1  prepare fine-tuning dataset</vt:lpstr>
      <vt:lpstr>Part 1  prepare fine-tuning dataset</vt:lpstr>
      <vt:lpstr>Part 1  prepare fine-tuning dataset</vt:lpstr>
      <vt:lpstr>Part 1  prepare fine-tuning dataset</vt:lpstr>
      <vt:lpstr>Part 1  prepare fine-tuning dataset</vt:lpstr>
      <vt:lpstr>Part 1  prepare fine-tuning dataset</vt:lpstr>
      <vt:lpstr>Part 1  prepare fine-tuning dataset</vt:lpstr>
      <vt:lpstr>Part 2: change the path in the fine-tuning code and dataloading script</vt:lpstr>
      <vt:lpstr>Part 2: change the path in the fine-tuning code and dataloading script</vt:lpstr>
      <vt:lpstr>Part 2: change the path in the fine-tuning code and dataloading script</vt:lpstr>
      <vt:lpstr>Part 2: change the path in the fine-tuning code and dataloading script</vt:lpstr>
      <vt:lpstr>Part 2: change the path in the fine-tuning code and dataloading script</vt:lpstr>
      <vt:lpstr>Part 3: set the approximate parameters and get a fine-tuned model</vt:lpstr>
      <vt:lpstr>PowerPoint 演示文稿</vt:lpstr>
      <vt:lpstr>Part 3: set the approximate parameters and get a fine-tuned model</vt:lpstr>
      <vt:lpstr>Part 3: set the approximate parameters and get a fine-tuned model</vt:lpstr>
      <vt:lpstr>Part 3: set the approximate parameters and get a fine-tuned model</vt:lpstr>
      <vt:lpstr>Part 3: set the approximate parameters and get a fine-tuned model</vt:lpstr>
      <vt:lpstr>Use the fine-tuned model</vt:lpstr>
      <vt:lpstr>Use the fine-tuned model</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Fine-tune STT model</dc:title>
  <dc:creator>ruiqianli</dc:creator>
  <cp:lastModifiedBy>ruiqianli</cp:lastModifiedBy>
  <cp:revision>30</cp:revision>
  <dcterms:created xsi:type="dcterms:W3CDTF">2022-06-30T05:33:07Z</dcterms:created>
  <dcterms:modified xsi:type="dcterms:W3CDTF">2022-06-30T05:33:07Z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1033-3.3.0.5120</vt:lpwstr>
  </property>
</Properties>
</file>